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082952"/>
              </a:solidFill>
              <a:ln>
                <a:noFill/>
              </a:ln>
            </c:spPr>
          </c:dPt>
          <c:dPt>
            <c:idx val="1"/>
            <c:spPr>
              <a:solidFill>
                <a:srgbClr val="4F97E9"/>
              </a:solidFill>
              <a:ln>
                <a:noFill/>
              </a:ln>
            </c:spPr>
          </c:dPt>
          <c:dPt>
            <c:idx val="2"/>
            <c:spPr>
              <a:solidFill>
                <a:srgbClr val="FFB604"/>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latin typeface="Inter"/>
              </a:defRPr>
            </a:pPr>
          </a:p>
        </c:txPr>
        <c:crossAx val="-2113994440"/>
        <c:crosses val="autoZero"/>
        <c:auto val="1"/>
        <c:lblAlgn val="ctr"/>
        <c:lblOffset val="100"/>
        <c:noMultiLvlLbl val="0"/>
      </c:catAx>
      <c:valAx>
        <c:axId val="-2113994440"/>
        <c:scaling>
          <c:max val="60.0"/>
          <c:min val="0.0"/>
        </c:scaling>
        <c:delete val="0"/>
        <c:axPos val="b"/>
        <c:majorGridlines/>
        <c:majorTickMark val="out"/>
        <c:minorTickMark val="none"/>
        <c:tickLblPos val="nextTo"/>
        <c:txPr>
          <a:bodyPr/>
          <a:lstStyle/>
          <a:p>
            <a:pPr>
              <a:defRPr sz="1200">
                <a:latin typeface="Inter"/>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Choose Home &gt; New Slide for Plan B layouts.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Navy is a presentation divider, not the default dark UI theme. Gold is the single accent.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Use navy for structure, blue for context and gold for one emphasis.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Use a navy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planb-white.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Cover">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5"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6"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
        <p:nvSpPr>
          <p:cNvPr id="7" name="Rectangle 6"/>
          <p:cNvSpPr/>
          <p:nvPr/>
        </p:nvSpPr>
        <p:spPr>
          <a:xfrm>
            <a:off x="7818120" y="0"/>
            <a:ext cx="4379976" cy="6080760"/>
          </a:xfrm>
          <a:prstGeom prst="rect">
            <a:avLst/>
          </a:prstGeom>
          <a:solidFill>
            <a:srgbClr val="0829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Original Lugano's Plan B mark"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9" name="Open.&#10;Capable.&#10;Curious.&#10;Grounded."/>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EFA"/>
                </a:solidFill>
                <a:latin typeface="Inter"/>
              </a:defRPr>
              <a:lnSpc>
                <a:spcPct val="112000"/>
              </a:lnSpc>
              <a:spcAft>
                <a:spcPts val="1200"/>
              </a:spcAft>
              <a:buNone/>
            </a:pPr>
            <a:r>
              <a:t>Open.</a:t>
            </a:r>
          </a:p>
          <a:p>
            <a:pPr algn="l" marL="0" indent="0">
              <a:defRPr sz="2900" b="1">
                <a:solidFill>
                  <a:srgbClr val="FFFEFA"/>
                </a:solidFill>
                <a:latin typeface="Inter"/>
              </a:defRPr>
              <a:lnSpc>
                <a:spcPct val="112000"/>
              </a:lnSpc>
              <a:spcAft>
                <a:spcPts val="1200"/>
              </a:spcAft>
              <a:buNone/>
            </a:pPr>
            <a:r>
              <a:t>Capable.</a:t>
            </a:r>
          </a:p>
          <a:p>
            <a:pPr algn="l" marL="0" indent="0">
              <a:defRPr sz="2900" b="1">
                <a:solidFill>
                  <a:srgbClr val="FFFEFA"/>
                </a:solidFill>
                <a:latin typeface="Inter"/>
              </a:defRPr>
              <a:lnSpc>
                <a:spcPct val="112000"/>
              </a:lnSpc>
              <a:spcAft>
                <a:spcPts val="1200"/>
              </a:spcAft>
              <a:buNone/>
            </a:pPr>
            <a:r>
              <a:t>Curious.</a:t>
            </a:r>
          </a:p>
          <a:p>
            <a:pPr algn="l" marL="0" indent="0">
              <a:defRPr sz="2900" b="1">
                <a:solidFill>
                  <a:srgbClr val="FFFEFA"/>
                </a:solidFill>
                <a:latin typeface="Inter"/>
              </a:defRPr>
              <a:lnSpc>
                <a:spcPct val="112000"/>
              </a:lnSpc>
              <a:spcAft>
                <a:spcPts val="1200"/>
              </a:spcAft>
              <a:buNone/>
            </a:pPr>
            <a:r>
              <a:t>Grounded.</a:t>
            </a:r>
          </a:p>
        </p:txBody>
      </p:sp>
      <p:sp>
        <p:nvSpPr>
          <p:cNvPr id="10" name="Rectangle 9"/>
          <p:cNvSpPr/>
          <p:nvPr/>
        </p:nvSpPr>
        <p:spPr>
          <a:xfrm>
            <a:off x="7818120" y="6016752"/>
            <a:ext cx="4379976" cy="64008"/>
          </a:xfrm>
          <a:gradFill rotWithShape="1">
            <a:gsLst>
              <a:gs pos="0">
                <a:srgbClr val="ffb604"/>
              </a:gs>
              <a:gs pos="28000">
                <a:srgbClr val="ff5db1"/>
              </a:gs>
              <a:gs pos="58000">
                <a:srgbClr val="7468ff"/>
              </a:gs>
              <a:gs pos="100000">
                <a:srgbClr val="23f5ff"/>
              </a:gs>
            </a:gsLst>
            <a:lin ang="0" scaled="1"/>
          </a:gradFill>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Section">
    <p:bg>
      <p:bgPr>
        <a:solidFill>
          <a:srgbClr val="082952"/>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EFA"/>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EFA"/>
                </a:solidFill>
                <a:latin typeface="Inter"/>
              </a:defRPr>
              <a:lnSpc>
                <a:spcPct val="112000"/>
              </a:lnSpc>
              <a:spcAft>
                <a:spcPts val="1200"/>
              </a:spcAft>
              <a:buNone/>
            </a:pPr>
            <a:r>
              <a:t>Civic Digital Commons</a:t>
            </a:r>
          </a:p>
        </p:txBody>
      </p:sp>
      <p:sp>
        <p:nvSpPr>
          <p:cNvPr id="4"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EFA"/>
                </a:solidFill>
                <a:latin typeface="Inter"/>
              </a:defRPr>
              <a:lnSpc>
                <a:spcPct val="112000"/>
              </a:lnSpc>
              <a:spcAft>
                <a:spcPts val="1200"/>
              </a:spcAft>
              <a:buNone/>
            </a:pPr>
            <a:r>
              <a:t>[Section title]</a:t>
            </a:r>
          </a:p>
        </p:txBody>
      </p:sp>
      <p:sp>
        <p:nvSpPr>
          <p:cNvPr id="5"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EFA"/>
                </a:solidFill>
                <a:latin typeface="Inter"/>
              </a:defRPr>
              <a:lnSpc>
                <a:spcPct val="112000"/>
              </a:lnSpc>
              <a:spcAft>
                <a:spcPts val="1200"/>
              </a:spcAft>
              <a:buNone/>
            </a:pPr>
            <a:r>
              <a:t>[One sentence that sets the direction]</a:t>
            </a:r>
          </a:p>
        </p:txBody>
      </p:sp>
      <p:sp>
        <p:nvSpPr>
          <p:cNvPr id="6" name="Rectangle 5"/>
          <p:cNvSpPr/>
          <p:nvPr/>
        </p:nvSpPr>
        <p:spPr>
          <a:xfrm>
            <a:off x="777240" y="1325880"/>
            <a:ext cx="594360" cy="73152"/>
          </a:xfrm>
          <a:prstGeom prst="rect">
            <a:avLst/>
          </a:prstGeom>
          <a:solidFill>
            <a:srgbClr val="FFB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Title and content">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6"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
        <p:nvSpPr>
          <p:cNvPr id="7" name="Rectangle 6"/>
          <p:cNvSpPr/>
          <p:nvPr/>
        </p:nvSpPr>
        <p:spPr>
          <a:xfrm>
            <a:off x="594360" y="2487168"/>
            <a:ext cx="64008" cy="2377440"/>
          </a:xfrm>
          <a:prstGeom prst="rect">
            <a:avLst/>
          </a:prstGeom>
          <a:solidFill>
            <a:srgbClr val="4F9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Two columns">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5"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6"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7"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8"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
        <p:nvSpPr>
          <p:cNvPr id="9" name="Rectangle 8"/>
          <p:cNvSpPr/>
          <p:nvPr/>
        </p:nvSpPr>
        <p:spPr>
          <a:xfrm>
            <a:off x="6062472" y="1828800"/>
            <a:ext cx="10972" cy="3794760"/>
          </a:xfrm>
          <a:prstGeom prst="rect">
            <a:avLst/>
          </a:prstGeom>
          <a:solidFill>
            <a:srgbClr val="B0D3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Image and story">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5" name="Rounded Rectangle 4"/>
          <p:cNvSpPr/>
          <p:nvPr/>
        </p:nvSpPr>
        <p:spPr>
          <a:xfrm>
            <a:off x="594360" y="1828800"/>
            <a:ext cx="6720840" cy="3886200"/>
          </a:xfrm>
          <a:prstGeom prst="roundRect">
            <a:avLst>
              <a:gd name="adj" fmla="val 12000"/>
            </a:avLst>
          </a:prstGeom>
          <a:solidFill>
            <a:srgbClr val="F3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7" name="Placeholder 1"/>
          <p:cNvSpPr txBox="1"/>
          <p:nvPr>
            <p:ph type="pic" id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8"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9"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0"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Chart and takeaway">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6"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chart]</a:t>
            </a:r>
          </a:p>
        </p:txBody>
      </p:sp>
      <p:sp>
        <p:nvSpPr>
          <p:cNvPr id="7"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8"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9"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Table">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6"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table]</a:t>
            </a:r>
          </a:p>
        </p:txBody>
      </p:sp>
      <p:sp>
        <p:nvSpPr>
          <p:cNvPr id="7"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Quotation">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5"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
        <p:nvSpPr>
          <p:cNvPr id="6" name="Rectangle 5"/>
          <p:cNvSpPr/>
          <p:nvPr/>
        </p:nvSpPr>
        <p:spPr>
          <a:xfrm>
            <a:off x="777240" y="960120"/>
            <a:ext cx="640080" cy="73152"/>
          </a:xfrm>
          <a:prstGeom prst="rect">
            <a:avLst/>
          </a:prstGeom>
          <a:solidFill>
            <a:srgbClr val="FFB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Next steps">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5"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6"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7"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8"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9"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0"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1"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Template guide">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6"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7"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Use navy and warm white. Choose gold or a small gradient as the exceptional signal. Aim for 20pt or larger body text.</a:t>
            </a:r>
          </a:p>
        </p:txBody>
      </p:sp>
      <p:sp>
        <p:nvSpPr>
          <p:cNvPr id="8" name="Rectangle 7"/>
          <p:cNvSpPr/>
          <p:nvPr/>
        </p:nvSpPr>
        <p:spPr>
          <a:xfrm>
            <a:off x="640080" y="5486400"/>
            <a:ext cx="365760" cy="228600"/>
          </a:xfrm>
          <a:prstGeom prst="rect">
            <a:avLst/>
          </a:prstGeom>
          <a:solidFill>
            <a:srgbClr val="0829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19" y="5486400"/>
            <a:ext cx="365760" cy="228600"/>
          </a:xfrm>
          <a:prstGeom prst="rect">
            <a:avLst/>
          </a:prstGeom>
          <a:solidFill>
            <a:srgbClr val="4F9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37360" y="5486400"/>
            <a:ext cx="365760" cy="228600"/>
          </a:xfrm>
          <a:prstGeom prst="rect">
            <a:avLst/>
          </a:prstGeom>
          <a:solidFill>
            <a:srgbClr val="FFB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0" y="5486400"/>
            <a:ext cx="365760" cy="228600"/>
          </a:xfrm>
          <a:prstGeom prst="rect">
            <a:avLst/>
          </a:prstGeom>
          <a:solidFill>
            <a:srgbClr val="FFF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082952"/>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Blank">
    <p:bg>
      <p:bgPr>
        <a:solidFill>
          <a:srgbClr val="FFFE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5"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6"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082952"/>
        </a:solidFill>
        <a:effectLst/>
      </p:bgPr>
    </p:bg>
    <p:spTree>
      <p:nvGrpSpPr>
        <p:cNvPr id="1" name=""/>
        <p:cNvGrpSpPr/>
        <p:nvPr/>
      </p:nvGrpSpPr>
      <p:grpSpPr/>
      <p:sp>
        <p:nvSpPr>
          <p:cNvPr id="4"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EFA"/>
                </a:solidFill>
                <a:latin typeface="Inter"/>
              </a:defRPr>
              <a:lnSpc>
                <a:spcPct val="112000"/>
              </a:lnSpc>
              <a:spcAft>
                <a:spcPts val="1200"/>
              </a:spcAft>
              <a:buNone/>
            </a:pPr>
            <a:r>
              <a:t>[Section title]</a:t>
            </a:r>
          </a:p>
        </p:txBody>
      </p:sp>
      <p:sp>
        <p:nvSpPr>
          <p:cNvPr id="5"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EFA"/>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6"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5"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6"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7"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8"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7" name="Placeholder 1"/>
          <p:cNvSpPr txBox="1"/>
          <p:nvPr>
            <p:ph type="pic" id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8"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9"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0"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7"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8"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9"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graphicFrame>
        <p:nvGraphicFramePr>
          <p:cNvPr id="10" name="Chart 9"/>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7"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graphicFrame>
        <p:nvGraphicFramePr>
          <p:cNvPr id="8" name="Table 7"/>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EFA"/>
                          </a:solidFill>
                          <a:latin typeface="Inter"/>
                        </a:defRPr>
                      </a:pPr>
                      <a:r>
                        <a:t>[Option]</a:t>
                      </a:r>
                    </a:p>
                  </a:txBody>
                  <a:tcPr marL="164592" marT="128016">
                    <a:solidFill>
                      <a:srgbClr val="082952"/>
                    </a:solidFill>
                  </a:tcPr>
                </a:tc>
                <a:tc>
                  <a:txBody>
                    <a:bodyPr/>
                    <a:lstStyle/>
                    <a:p>
                      <a:pPr>
                        <a:defRPr sz="2000" b="1">
                          <a:solidFill>
                            <a:srgbClr val="FFFEFA"/>
                          </a:solidFill>
                          <a:latin typeface="Inter"/>
                        </a:defRPr>
                      </a:pPr>
                      <a:r>
                        <a:t>[Public benefit]</a:t>
                      </a:r>
                    </a:p>
                  </a:txBody>
                  <a:tcPr marL="164592" marT="128016">
                    <a:solidFill>
                      <a:srgbClr val="082952"/>
                    </a:solidFill>
                  </a:tcPr>
                </a:tc>
                <a:tc>
                  <a:txBody>
                    <a:bodyPr/>
                    <a:lstStyle/>
                    <a:p>
                      <a:pPr>
                        <a:defRPr sz="2000" b="1">
                          <a:solidFill>
                            <a:srgbClr val="FFFEFA"/>
                          </a:solidFill>
                          <a:latin typeface="Inter"/>
                        </a:defRPr>
                      </a:pPr>
                      <a:r>
                        <a:t>[Consideration]</a:t>
                      </a:r>
                    </a:p>
                  </a:txBody>
                  <a:tcPr marL="164592" marT="128016">
                    <a:solidFill>
                      <a:srgbClr val="082952"/>
                    </a:solidFill>
                  </a:tcPr>
                </a:tc>
              </a:tr>
              <a:tr h="777240">
                <a:tc>
                  <a:txBody>
                    <a:bodyPr/>
                    <a:lstStyle/>
                    <a:p>
                      <a:pPr>
                        <a:defRPr sz="2000" b="0">
                          <a:solidFill>
                            <a:srgbClr val="030B20"/>
                          </a:solidFill>
                          <a:latin typeface="Inter"/>
                        </a:defRPr>
                      </a:pPr>
                      <a:r>
                        <a:t>[Option A]</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r h="777240">
                <a:tc>
                  <a:txBody>
                    <a:bodyPr/>
                    <a:lstStyle/>
                    <a:p>
                      <a:pPr>
                        <a:defRPr sz="2000" b="0">
                          <a:solidFill>
                            <a:srgbClr val="030B20"/>
                          </a:solidFill>
                          <a:latin typeface="Inter"/>
                        </a:defRPr>
                      </a:pPr>
                      <a:r>
                        <a:t>[Option B]</a:t>
                      </a:r>
                    </a:p>
                  </a:txBody>
                  <a:tcPr marL="164592" marT="128016">
                    <a:solidFill>
                      <a:srgbClr val="FFFEFA"/>
                    </a:solidFill>
                  </a:tcPr>
                </a:tc>
                <a:tc>
                  <a:txBody>
                    <a:bodyPr/>
                    <a:lstStyle/>
                    <a:p>
                      <a:pPr>
                        <a:defRPr sz="2000" b="0">
                          <a:solidFill>
                            <a:srgbClr val="030B20"/>
                          </a:solidFill>
                          <a:latin typeface="Inter"/>
                        </a:defRPr>
                      </a:pPr>
                      <a:r>
                        <a:t>[Benefit]</a:t>
                      </a:r>
                    </a:p>
                  </a:txBody>
                  <a:tcPr marL="164592" marT="128016">
                    <a:solidFill>
                      <a:srgbClr val="FFFEFA"/>
                    </a:solidFill>
                  </a:tcPr>
                </a:tc>
                <a:tc>
                  <a:txBody>
                    <a:bodyPr/>
                    <a:lstStyle/>
                    <a:p>
                      <a:pPr>
                        <a:defRPr sz="2000" b="0">
                          <a:solidFill>
                            <a:srgbClr val="030B20"/>
                          </a:solidFill>
                          <a:latin typeface="Inter"/>
                        </a:defRPr>
                      </a:pPr>
                      <a:r>
                        <a:t>[Constraint]</a:t>
                      </a:r>
                    </a:p>
                  </a:txBody>
                  <a:tcPr marL="164592" marT="128016">
                    <a:solidFill>
                      <a:srgbClr val="FFFEFA"/>
                    </a:solidFill>
                  </a:tcPr>
                </a:tc>
              </a:tr>
              <a:tr h="777240">
                <a:tc>
                  <a:txBody>
                    <a:bodyPr/>
                    <a:lstStyle/>
                    <a:p>
                      <a:pPr>
                        <a:defRPr sz="2000" b="0">
                          <a:solidFill>
                            <a:srgbClr val="030B20"/>
                          </a:solidFill>
                          <a:latin typeface="Inter"/>
                        </a:defRPr>
                      </a:pPr>
                      <a:r>
                        <a:t>[Option C]</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5"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5"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6"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7"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8"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9"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0"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1"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6"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7"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Use navy and warm white. Choose gold or a small gradient as the exceptional signal. Aim for 20pt or larger body text.</a:t>
            </a:r>
          </a:p>
        </p:txBody>
      </p:sp>
    </p:spTree>
  </p:cSld>
  <p:clrMapOvr>
    <a:masterClrMapping/>
  </p:clrMapOvr>
</p:sld>
</file>

<file path=ppt/theme/theme1.xml><?xml version="1.0" encoding="utf-8"?>
<a:theme xmlns:a="http://schemas.openxmlformats.org/drawingml/2006/main" name="Office Theme">
  <a:themeElements>
    <a:clrScheme name="Plan B Civic Digital Commons">
      <a:dk1>
        <a:srgbClr val="030b20"/>
      </a:dk1>
      <a:lt1>
        <a:srgbClr val="fffefa"/>
      </a:lt1>
      <a:dk2>
        <a:srgbClr val="082952"/>
      </a:dk2>
      <a:lt2>
        <a:srgbClr val="f3f9ff"/>
      </a:lt2>
      <a:accent1>
        <a:srgbClr val="082952"/>
      </a:accent1>
      <a:accent2>
        <a:srgbClr val="4f97e9"/>
      </a:accent2>
      <a:accent3>
        <a:srgbClr val="ffb604"/>
      </a:accent3>
      <a:accent4>
        <a:srgbClr val="7468ff"/>
      </a:accent4>
      <a:accent5>
        <a:srgbClr val="ff5db1"/>
      </a:accent5>
      <a:accent6>
        <a:srgbClr val="23f5ff"/>
      </a:accent6>
      <a:hlink>
        <a:srgbClr val="082952"/>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