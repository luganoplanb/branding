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planb-square-black.svg" ContentType="image/svg+xml"/>
  <Override PartName="/ppt/media/planb-square-color.svg" ContentType="image/svg+xml"/>
  <Override PartName="/ppt/media/planb-square-white.svg" ContentType="image/svg+xml"/>
  <Override PartName="/ppt/media/planb-tall-black.svg" ContentType="image/svg+xml"/>
  <Override PartName="/ppt/media/planb-tall-color.svg" ContentType="image/svg+xml"/>
  <Override PartName="/ppt/media/planb-tall-white.svg" ContentType="image/svg+xml"/>
  <Override PartName="/ppt/media/planb-wide-black.svg" ContentType="image/svg+xml"/>
  <Override PartName="/ppt/media/planb-wide-color.svg" ContentType="image/svg+xml"/>
  <Override PartName="/ppt/media/planb-wide-white.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Illustrative values</c:v>
                </c:pt>
              </c:strCache>
            </c:strRef>
          </c:tx>
          <c:dPt>
            <c:idx val="0"/>
            <c:spPr>
              <a:solidFill>
                <a:srgbClr val="7468FF"/>
              </a:solidFill>
              <a:ln>
                <a:noFill/>
              </a:ln>
            </c:spPr>
          </c:dPt>
          <c:dPt>
            <c:idx val="1"/>
            <c:spPr>
              <a:solidFill>
                <a:srgbClr val="E15364"/>
              </a:solidFill>
              <a:ln>
                <a:noFill/>
              </a:ln>
            </c:spPr>
          </c:dPt>
          <c:dPt>
            <c:idx val="2"/>
            <c:spPr>
              <a:solidFill>
                <a:srgbClr val="F7931A"/>
              </a:solidFill>
              <a:ln>
                <a:noFill/>
              </a:ln>
            </c:spPr>
          </c:dPt>
          <c:cat>
            <c:strRef>
              <c:f>Sheet1!$A$2:$A$4</c:f>
              <c:strCache>
                <c:ptCount val="3"/>
                <c:pt idx="0">
                  <c:v>Example A</c:v>
                </c:pt>
                <c:pt idx="1">
                  <c:v>Example B</c:v>
                </c:pt>
                <c:pt idx="2">
                  <c:v>Example C</c:v>
                </c:pt>
              </c:strCache>
            </c:strRef>
          </c:cat>
          <c:val>
            <c:numRef>
              <c:f>Sheet1!$B$2:$B$4</c:f>
              <c:numCache>
                <c:formatCode>General</c:formatCode>
                <c:ptCount val="3"/>
                <c:pt idx="0">
                  <c:v>20</c:v>
                </c:pt>
                <c:pt idx="1">
                  <c:v>35</c:v>
                </c:pt>
                <c:pt idx="2">
                  <c:v>50</c:v>
                </c:pt>
              </c:numCache>
            </c:numRef>
          </c:val>
        </c:ser>
        <c:dLbls>
          <c:txPr>
            <a:bodyPr/>
            <a:lstStyle/>
            <a:p>
              <a:pPr>
                <a:defRPr sz="1500">
                  <a:solidFill>
                    <a:srgbClr val="FFFFFF"/>
                  </a:solidFill>
                  <a:latin typeface="Inter"/>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500">
                <a:solidFill>
                  <a:srgbClr val="FFFFFF"/>
                </a:solidFill>
                <a:latin typeface="Inter"/>
              </a:defRPr>
            </a:pPr>
          </a:p>
        </c:txPr>
        <c:crossAx val="-2113994440"/>
        <c:crosses val="autoZero"/>
        <c:auto val="1"/>
        <c:lblAlgn val="ctr"/>
        <c:lblOffset val="100"/>
        <c:noMultiLvlLbl val="0"/>
      </c:catAx>
      <c:valAx>
        <c:axId val="-2113994440"/>
        <c:scaling>
          <c:max val="60.0"/>
          <c:min val="0.0"/>
        </c:scaling>
        <c:delete val="0"/>
        <c:axPos val="b"/>
        <c:majorGridlines>
          <c:spPr>
            <a:ln>
              <a:solidFill>
                <a:srgbClr val="494040"/>
              </a:solidFill>
            </a:ln>
          </c:spPr>
        </c:majorGridlines>
        <c:majorTickMark val="out"/>
        <c:minorTickMark val="none"/>
        <c:tickLblPos val="nextTo"/>
        <c:txPr>
          <a:bodyPr/>
          <a:lstStyle/>
          <a:p>
            <a:pPr>
              <a:defRPr sz="1200">
                <a:solidFill>
                  <a:srgbClr val="FFFFFF"/>
                </a:solidFill>
                <a:latin typeface="Inter"/>
              </a:defRPr>
            </a:pPr>
          </a:p>
        </c:txPr>
        <c:crossAx val="-2068027336"/>
        <c:crosses val="autoZero"/>
      </c:valAx>
    </c:plotArea>
    <c:dispBlanksAs val="gap"/>
  </c:chart>
  <c:spPr>
    <a:solidFill>
      <a:srgbClr val="171717"/>
    </a:solid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Replace bracketed text. Aim for a title under 8 words. Keep the inherited mark intact. This template uses the existing Lugano Plan B identity, not a newly designed Foundation logo. Install bundled Inter fonts before editing. The right-side panel, SVG logo, values text and top gradient are separate selectable slide objects. Duplicate this cover to preserve them; New Slide uses the content layout only. Swap logos by copying from the three logo-library slides. Edit both shared footer text boxes once on View &gt; Slide Master &gt; the top parent master, then Close Master 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Use between major topics, not before every slide. The background follows the selected light or dark edition. The gradient is the brand signal. Keep the statement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Use three short statements instead of a wall of bullets. Body is 27pt. Explain public benefit before technical detail. The editable text box supports additional paragraphs but do not shrink below 20pt to fit more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Useful for problem/response, today/proposal, or two options. Equal space means equal status. Do not imply a ranking through color alone.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Use the picture placeholder to insert an image, then Crop &gt; Fit or Fill. Replace the placeholder copy. Add alt text and a credit. Use real photographs with permission; no synthetic evidence or implied endorsements.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The starter contains an editable native PowerPoint chart with an embedded Excel workbook. All values are synthetic. Use Edit Data to replace them. Give units, source, date and uncertainty. Preserve the selected light or dark edition colors and keep all labels readable.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Native editable table in the starter. Keep to 3–4 columns and 3–5 rows. Replace bracketed fields. Do not use a screenshot of a spreadsheet. Keep text at least 20pt. Preserve the selected edition header and alternating quiet grounds.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This is placeholder text, not a real quotation or endorsement. Verify the wording, permission where required, attribution and source. Keep quotations short. Do not invent testimonials.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Close with specific actions and realistic timing. Add a real contact or project link. The three headings are editable prompts, not a promised programme.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This deck is an editable starter, not a finished presentation. Ten Plan B layouts plus a branded blank are supplied. Speaker notes describe usage. Reuse the POTX in PowerPoint to create a new document. Keynote/LibreOffice may vary in rendering; check after import.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LOGO LIBRARY. Each logo is an original embedded SVG with a PNG fallback for older viewers. Copy the logo itself, not the background rectangle. Keep original proportions and colors. Color and white logos need a dark ground; black needs a light ground. Delete this slide before presenting. Shared footer: View &gt; Slide Master &gt; top parent master.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LOGO LIBRARY. Each logo is an original embedded SVG with a PNG fallback for older viewers. Copy the logo itself, not the background rectangle. Keep original proportions and colors. Color and white logos need a dark ground; black needs a light ground. Delete this slide before presenting. Shared footer: View &gt; Slide Master &gt; top parent master.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LOGO LIBRARY. Each logo is an original embedded SVG with a PNG fallback for older viewers. Copy the logo itself, not the background rectangle. Keep original proportions and colors. Color and white logos need a dark ground; black needs a light ground. Delete this slide before presenting. Shared footer: View &gt; Slide Master &gt; top parent master.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cust" preserve="1" showMasterSp="1">
  <p:cSld name="Plan B / Dark / Cover">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FFFFFF"/>
                </a:solidFill>
                <a:latin typeface="Inter"/>
              </a:defRPr>
              <a:lnSpc>
                <a:spcPct val="112000"/>
              </a:lnSpc>
              <a:spcAft>
                <a:spcPts val="1200"/>
              </a:spcAft>
              <a:buNone/>
            </a:pPr>
            <a:r>
              <a:t>[Presentation</a:t>
            </a:r>
          </a:p>
          <a:p>
            <a:pPr algn="l" marL="0" indent="0">
              <a:defRPr sz="4800" b="1">
                <a:solidFill>
                  <a:srgbClr val="FFFFFF"/>
                </a:solidFill>
                <a:latin typeface="Inter"/>
              </a:defRPr>
              <a:lnSpc>
                <a:spcPct val="112000"/>
              </a:lnSpc>
              <a:spcAft>
                <a:spcPts val="1200"/>
              </a:spcAft>
              <a:buNone/>
            </a:pPr>
            <a:r>
              <a:t>title]</a:t>
            </a:r>
          </a:p>
        </p:txBody>
      </p:sp>
      <p:sp>
        <p:nvSpPr>
          <p:cNvPr id="4"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[A clear sentence about the civic purpose]</a:t>
            </a:r>
          </a:p>
        </p:txBody>
      </p:sp>
      <p:sp>
        <p:nvSpPr>
          <p:cNvPr id="5"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FFFFFF"/>
                </a:solidFill>
                <a:latin typeface="Inter"/>
              </a:defRPr>
              <a:lnSpc>
                <a:spcPct val="112000"/>
              </a:lnSpc>
              <a:spcAft>
                <a:spcPts val="1200"/>
              </a:spcAft>
              <a:buNone/>
            </a:pPr>
            <a:r>
              <a:t>[Presenter / team]</a:t>
            </a:r>
          </a:p>
          <a:p>
            <a:pPr algn="l" marL="0" indent="0">
              <a:defRPr sz="1700" b="0">
                <a:solidFill>
                  <a:srgbClr val="FFFFFF"/>
                </a:solidFill>
                <a:latin typeface="Inter"/>
              </a:defRPr>
              <a:lnSpc>
                <a:spcPct val="112000"/>
              </a:lnSpc>
              <a:spcAft>
                <a:spcPts val="1200"/>
              </a:spcAft>
              <a:buNone/>
            </a:pPr>
            <a:r>
              <a:t>[Event · date]</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showMasterSp="1">
  <p:cSld name="Plan B / Dark / Section">
    <p:bg>
      <p:bgPr>
        <a:solidFill>
          <a:srgbClr val="1A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FFFFFF"/>
                </a:solidFill>
                <a:latin typeface="Inter"/>
              </a:defRPr>
              <a:lnSpc>
                <a:spcPct val="112000"/>
              </a:lnSpc>
              <a:spcAft>
                <a:spcPts val="1200"/>
              </a:spcAft>
              <a:buNone/>
            </a:pPr>
            <a:r>
              <a:t>[Section title]</a:t>
            </a:r>
          </a:p>
        </p:txBody>
      </p:sp>
      <p:sp>
        <p:nvSpPr>
          <p:cNvPr id="4"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FFFFFF"/>
                </a:solidFill>
                <a:latin typeface="Inter"/>
              </a:defRPr>
              <a:lnSpc>
                <a:spcPct val="112000"/>
              </a:lnSpc>
              <a:spcAft>
                <a:spcPts val="1200"/>
              </a:spcAft>
              <a:buNone/>
            </a:pPr>
            <a:r>
              <a:t>[One sentence that sets the direction]</a:t>
            </a:r>
          </a:p>
        </p:txBody>
      </p:sp>
      <p:sp>
        <p:nvSpPr>
          <p:cNvPr id="5" name="Plan B / Network energy gradient"/>
          <p:cNvSpPr/>
          <p:nvPr/>
        </p:nvSpPr>
        <p:spPr>
          <a:xfrm>
            <a:off x="777240" y="1234440"/>
            <a:ext cx="3291840" cy="201168"/>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cust" preserve="1" showMasterSp="1">
  <p:cSld name="Plan B / Dark / Title and content">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[Lead with the point]</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[Explain why this matters to the audience]</a:t>
            </a:r>
          </a:p>
        </p:txBody>
      </p:sp>
      <p:sp>
        <p:nvSpPr>
          <p:cNvPr id="5"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FFFFFF"/>
                </a:solidFill>
                <a:latin typeface="Inter"/>
              </a:defRPr>
              <a:lnSpc>
                <a:spcPct val="112000"/>
              </a:lnSpc>
              <a:spcAft>
                <a:spcPts val="1200"/>
              </a:spcAft>
              <a:buNone/>
            </a:pPr>
            <a:r>
              <a:t>[First idea — one concise sentence]</a:t>
            </a:r>
          </a:p>
          <a:p>
            <a:pPr algn="l" marL="0" indent="0">
              <a:defRPr sz="2700" b="0">
                <a:solidFill>
                  <a:srgbClr val="FFFFFF"/>
                </a:solidFill>
                <a:latin typeface="Inter"/>
              </a:defRPr>
              <a:lnSpc>
                <a:spcPct val="112000"/>
              </a:lnSpc>
              <a:spcAft>
                <a:spcPts val="1200"/>
              </a:spcAft>
              <a:buNone/>
            </a:pPr>
            <a:r>
              <a:t>[Second idea — one concise sentence]</a:t>
            </a:r>
          </a:p>
          <a:p>
            <a:pPr algn="l" marL="0" indent="0">
              <a:defRPr sz="2700" b="0">
                <a:solidFill>
                  <a:srgbClr val="FFFFFF"/>
                </a:solidFill>
                <a:latin typeface="Inter"/>
              </a:defRPr>
              <a:lnSpc>
                <a:spcPct val="112000"/>
              </a:lnSpc>
              <a:spcAft>
                <a:spcPts val="1200"/>
              </a:spcAft>
              <a:buNone/>
            </a:pPr>
            <a:r>
              <a:t>[Third idea — one concise sentence]</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showMasterSp="1">
  <p:cSld name="Plan B / Dark / Two columns">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[Compare two ideas]</a:t>
            </a:r>
          </a:p>
        </p:txBody>
      </p:sp>
      <p:sp>
        <p:nvSpPr>
          <p:cNvPr id="4"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[First perspective]</a:t>
            </a:r>
          </a:p>
        </p:txBody>
      </p:sp>
      <p:sp>
        <p:nvSpPr>
          <p:cNvPr id="5"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[Explain the idea in 40 words or fewer. Keep sentences concrete and easy to read.]</a:t>
            </a:r>
          </a:p>
        </p:txBody>
      </p:sp>
      <p:sp>
        <p:nvSpPr>
          <p:cNvPr id="6"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[Second perspective]</a:t>
            </a:r>
          </a:p>
        </p:txBody>
      </p:sp>
      <p:sp>
        <p:nvSpPr>
          <p:cNvPr id="7"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[Explain the difference or consequence. Use the same level of detail as the first column.]</a:t>
            </a:r>
          </a:p>
        </p:txBody>
      </p:sp>
      <p:sp>
        <p:nvSpPr>
          <p:cNvPr id="8" name="Rectangle 7"/>
          <p:cNvSpPr/>
          <p:nvPr/>
        </p:nvSpPr>
        <p:spPr>
          <a:xfrm>
            <a:off x="6062472" y="1828800"/>
            <a:ext cx="10972" cy="3794760"/>
          </a:xfrm>
          <a:prstGeom prst="rect">
            <a:avLst/>
          </a:prstGeom>
          <a:solidFill>
            <a:srgbClr val="494040"/>
          </a:solidFill>
          <a:ln>
            <a:noFill/>
          </a:ln>
          <a:effectLst/>
        </p:spPr>
        <p:txBody>
          <a:bodyPr rtlCol="0" anchor="ctr"/>
          <a:lstStyle/>
          <a:p>
            <a:pPr algn="ct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showMasterSp="1">
  <p:cSld name="Plan B / Dark / Image and story">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the place visible]</a:t>
            </a:r>
          </a:p>
        </p:txBody>
      </p:sp>
      <p:sp>
        <p:nvSpPr>
          <p:cNvPr id="4" name="Rounded Rectangle 3"/>
          <p:cNvSpPr/>
          <p:nvPr/>
        </p:nvSpPr>
        <p:spPr>
          <a:xfrm>
            <a:off x="594360" y="1828800"/>
            <a:ext cx="6720840" cy="3886200"/>
          </a:xfrm>
          <a:prstGeom prst="roundRect">
            <a:avLst>
              <a:gd name="adj" fmla="val 12000"/>
            </a:avLst>
          </a:prstGeom>
          <a:solidFill>
            <a:srgbClr val="1A1717"/>
          </a:solidFill>
          <a:ln>
            <a:noFill/>
          </a:ln>
          <a:effectLst/>
        </p:spPr>
        <p:txBody>
          <a:bodyPr rtlCol="0" anchor="ctr"/>
          <a:lstStyle/>
          <a:p>
            <a:pPr algn="ctr"/>
          </a:p>
        </p:txBody>
      </p:sp>
      <p:sp>
        <p:nvSpPr>
          <p:cNvPr id="5" name="Insert a documentary photograph"/>
          <p:cNvSpPr txBox="1"/>
          <p:nvPr/>
        </p:nvSpPr>
        <p:spPr>
          <a:xfrm>
            <a:off x="914400" y="2834640"/>
            <a:ext cx="6035040" cy="105156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Insert a documentary photograph</a:t>
            </a:r>
          </a:p>
        </p:txBody>
      </p:sp>
      <p:sp>
        <p:nvSpPr>
          <p:cNvPr id="6"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[Insert a documentary photograph]</a:t>
            </a:r>
          </a:p>
        </p:txBody>
      </p:sp>
      <p:sp>
        <p:nvSpPr>
          <p:cNvPr id="7"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FFFFFF"/>
                </a:solidFill>
                <a:latin typeface="Inter"/>
              </a:defRPr>
              <a:lnSpc>
                <a:spcPct val="112000"/>
              </a:lnSpc>
              <a:spcAft>
                <a:spcPts val="1200"/>
              </a:spcAft>
              <a:buNone/>
            </a:pPr>
            <a:r>
              <a:t>[What should we notice?]</a:t>
            </a:r>
          </a:p>
        </p:txBody>
      </p:sp>
      <p:sp>
        <p:nvSpPr>
          <p:cNvPr id="8"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[Connect the image to the public purpose. Use real Lugano, civic spaces, workshops or people making and learning.]</a:t>
            </a:r>
          </a:p>
        </p:txBody>
      </p:sp>
      <p:sp>
        <p:nvSpPr>
          <p:cNvPr id="9"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FFFFFF"/>
                </a:solidFill>
                <a:latin typeface="Inter"/>
              </a:defRPr>
              <a:lnSpc>
                <a:spcPct val="112000"/>
              </a:lnSpc>
              <a:spcAft>
                <a:spcPts val="1200"/>
              </a:spcAft>
              <a:buNone/>
            </a:pPr>
            <a:r>
              <a:t>[Photo credit / source / permission]</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cust" preserve="1" showMasterSp="1">
  <p:cSld name="Plan B / Dark / Chart and takeaway">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[Say what the data shows]</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[Unit, population and time period]</a:t>
            </a:r>
          </a:p>
        </p:txBody>
      </p:sp>
      <p:sp>
        <p:nvSpPr>
          <p:cNvPr id="5" name="Placeholder 2"/>
          <p:cNvSpPr txBox="1"/>
          <p:nvPr>
            <p:ph type="chart" idx="2"/>
          </p:nvPr>
        </p:nvSpPr>
        <p:spPr>
          <a:xfrm>
            <a:off x="640080" y="2286000"/>
            <a:ext cx="7132320" cy="342900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[Insert chart]</a:t>
            </a:r>
          </a:p>
        </p:txBody>
      </p:sp>
      <p:sp>
        <p:nvSpPr>
          <p:cNvPr id="6"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FFFFFF"/>
                </a:solidFill>
                <a:latin typeface="Inter"/>
              </a:defRPr>
              <a:lnSpc>
                <a:spcPct val="112000"/>
              </a:lnSpc>
              <a:spcAft>
                <a:spcPts val="1200"/>
              </a:spcAft>
              <a:buNone/>
            </a:pPr>
            <a:r>
              <a:t>[The takeaway]</a:t>
            </a:r>
          </a:p>
        </p:txBody>
      </p:sp>
      <p:sp>
        <p:nvSpPr>
          <p:cNvPr id="7"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[Explain the implication and the limits of the evidence.]</a:t>
            </a:r>
          </a:p>
        </p:txBody>
      </p:sp>
      <p:sp>
        <p:nvSpPr>
          <p:cNvPr id="8"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FFFFFF"/>
                </a:solidFill>
                <a:latin typeface="Inter"/>
              </a:defRPr>
              <a:lnSpc>
                <a:spcPct val="112000"/>
              </a:lnSpc>
              <a:spcAft>
                <a:spcPts val="1200"/>
              </a:spcAft>
              <a:buNone/>
            </a:pPr>
            <a:r>
              <a:t>ILLUSTRATIVE DATA ONLY · Replace values and add a source before presenting.</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cust" preserve="1" showMasterSp="1">
  <p:cSld name="Plan B / Dark / Table">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a decision easier]</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[Explain what the comparison includes]</a:t>
            </a:r>
          </a:p>
        </p:txBody>
      </p:sp>
      <p:sp>
        <p:nvSpPr>
          <p:cNvPr id="5" name="Placeholder 2"/>
          <p:cNvSpPr txBox="1"/>
          <p:nvPr>
            <p:ph type="tbl" idx="2"/>
          </p:nvPr>
        </p:nvSpPr>
        <p:spPr>
          <a:xfrm>
            <a:off x="640080" y="2331720"/>
            <a:ext cx="10927080" cy="32918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[Insert table]</a:t>
            </a:r>
          </a:p>
        </p:txBody>
      </p:sp>
      <p:sp>
        <p:nvSpPr>
          <p:cNvPr id="6"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FFFFFF"/>
                </a:solidFill>
                <a:latin typeface="Inter"/>
              </a:defRPr>
              <a:lnSpc>
                <a:spcPct val="112000"/>
              </a:lnSpc>
              <a:spcAft>
                <a:spcPts val="1200"/>
              </a:spcAft>
              <a:buNone/>
            </a:pPr>
            <a:r>
              <a:t>[Source / definitions / caveat]</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ust" preserve="1" showMasterSp="1">
  <p:cSld name="Plan B / Dark / Quotation">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FFFFFF"/>
                </a:solidFill>
                <a:latin typeface="Inter"/>
              </a:defRPr>
              <a:lnSpc>
                <a:spcPct val="112000"/>
              </a:lnSpc>
              <a:spcAft>
                <a:spcPts val="1200"/>
              </a:spcAft>
              <a:buNone/>
            </a:pPr>
            <a:r>
              <a:t>[A short quotation,</a:t>
            </a:r>
          </a:p>
          <a:p>
            <a:pPr algn="l" marL="0" indent="0">
              <a:defRPr sz="4200" b="1">
                <a:solidFill>
                  <a:srgbClr val="FFFFFF"/>
                </a:solidFill>
                <a:latin typeface="Inter"/>
              </a:defRPr>
              <a:lnSpc>
                <a:spcPct val="112000"/>
              </a:lnSpc>
              <a:spcAft>
                <a:spcPts val="1200"/>
              </a:spcAft>
              <a:buNone/>
            </a:pPr>
            <a:r>
              <a:t>accurately attributed.]</a:t>
            </a:r>
          </a:p>
        </p:txBody>
      </p:sp>
      <p:sp>
        <p:nvSpPr>
          <p:cNvPr id="4"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FFFFFF"/>
                </a:solidFill>
                <a:latin typeface="Inter"/>
              </a:defRPr>
              <a:lnSpc>
                <a:spcPct val="112000"/>
              </a:lnSpc>
              <a:spcAft>
                <a:spcPts val="1200"/>
              </a:spcAft>
              <a:buNone/>
            </a:pPr>
            <a:r>
              <a:t>[Speaker / role]</a:t>
            </a:r>
          </a:p>
          <a:p>
            <a:pPr algn="l" marL="0" indent="0">
              <a:defRPr sz="2000" b="0">
                <a:solidFill>
                  <a:srgbClr val="FFFFFF"/>
                </a:solidFill>
                <a:latin typeface="Inter"/>
              </a:defRPr>
              <a:lnSpc>
                <a:spcPct val="112000"/>
              </a:lnSpc>
              <a:spcAft>
                <a:spcPts val="1200"/>
              </a:spcAft>
              <a:buNone/>
            </a:pPr>
            <a:r>
              <a:t>[Source · date]</a:t>
            </a:r>
          </a:p>
        </p:txBody>
      </p:sp>
      <p:sp>
        <p:nvSpPr>
          <p:cNvPr id="5" name="Plan B / Network energy gradient"/>
          <p:cNvSpPr/>
          <p:nvPr/>
        </p:nvSpPr>
        <p:spPr>
          <a:xfrm>
            <a:off x="777240" y="960120"/>
            <a:ext cx="2560320" cy="146304"/>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cust" preserve="1" showMasterSp="1">
  <p:cSld name="Plan B / Dark / Next steps">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[What happens next?]</a:t>
            </a:r>
          </a:p>
        </p:txBody>
      </p:sp>
      <p:sp>
        <p:nvSpPr>
          <p:cNvPr id="4"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[Learn]</a:t>
            </a:r>
          </a:p>
        </p:txBody>
      </p:sp>
      <p:sp>
        <p:nvSpPr>
          <p:cNvPr id="5"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6"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[Test]</a:t>
            </a:r>
          </a:p>
        </p:txBody>
      </p:sp>
      <p:sp>
        <p:nvSpPr>
          <p:cNvPr id="7"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8"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[Contribute]</a:t>
            </a:r>
          </a:p>
        </p:txBody>
      </p:sp>
      <p:sp>
        <p:nvSpPr>
          <p:cNvPr id="9"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10"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[Contact / project URL]</a:t>
            </a: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cust" preserve="1" showMasterSp="1">
  <p:cSld name="Plan B / Dark / Template guide">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it yours. Keep it Plan B.</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Delete this guidance slide before presenting.</a:t>
            </a:r>
          </a:p>
        </p:txBody>
      </p:sp>
      <p:sp>
        <p:nvSpPr>
          <p:cNvPr id="5"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Edit the slide</a:t>
            </a:r>
          </a:p>
          <a:p>
            <a:pPr algn="l" marL="0" indent="0">
              <a:defRPr sz="2300" b="0">
                <a:solidFill>
                  <a:srgbClr val="FFFFFF"/>
                </a:solidFill>
                <a:latin typeface="Inter"/>
              </a:defRPr>
              <a:lnSpc>
                <a:spcPct val="112000"/>
              </a:lnSpc>
              <a:spcAft>
                <a:spcPts val="1200"/>
              </a:spcAft>
              <a:buNone/>
            </a:pPr>
            <a:r>
              <a:t>Duplicate the cover to keep its movable SVG logo, text, panel and top gradient. Copy other logo forms from the library slides. Use New Slide for content layouts.</a:t>
            </a:r>
          </a:p>
        </p:txBody>
      </p:sp>
      <p:sp>
        <p:nvSpPr>
          <p:cNvPr id="6"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Edit every footer at once</a:t>
            </a:r>
          </a:p>
          <a:p>
            <a:pPr algn="l" marL="0" indent="0">
              <a:defRPr sz="2300" b="0">
                <a:solidFill>
                  <a:srgbClr val="FFFFFF"/>
                </a:solidFill>
                <a:latin typeface="Inter"/>
              </a:defRPr>
              <a:lnSpc>
                <a:spcPct val="112000"/>
              </a:lnSpc>
              <a:spcAft>
                <a:spcPts val="1200"/>
              </a:spcAft>
              <a:buNone/>
            </a:pPr>
            <a:r>
              <a:t>View → Slide Master → select the top parent master. Edit the two footer text boxes, then Close Master View. Delete this guide and the logo library before presenting.</a:t>
            </a:r>
          </a:p>
        </p:txBody>
      </p:sp>
      <p:sp>
        <p:nvSpPr>
          <p:cNvPr id="7" name="Rectangle 6"/>
          <p:cNvSpPr/>
          <p:nvPr/>
        </p:nvSpPr>
        <p:spPr>
          <a:xfrm>
            <a:off x="640080" y="5486400"/>
            <a:ext cx="365760" cy="228600"/>
          </a:xfrm>
          <a:prstGeom prst="rect">
            <a:avLst/>
          </a:prstGeom>
          <a:solidFill>
            <a:srgbClr val="FFFFFF"/>
          </a:solidFill>
          <a:ln>
            <a:noFill/>
          </a:ln>
          <a:effectLst/>
        </p:spPr>
        <p:txBody>
          <a:bodyPr rtlCol="0" anchor="ctr"/>
          <a:lstStyle/>
          <a:p>
            <a:pPr algn="ctr"/>
          </a:p>
        </p:txBody>
      </p:sp>
      <p:sp>
        <p:nvSpPr>
          <p:cNvPr id="8" name="Rectangle 7"/>
          <p:cNvSpPr/>
          <p:nvPr/>
        </p:nvSpPr>
        <p:spPr>
          <a:xfrm>
            <a:off x="1188719" y="5486400"/>
            <a:ext cx="365760" cy="228600"/>
          </a:xfrm>
          <a:prstGeom prst="rect">
            <a:avLst/>
          </a:prstGeom>
          <a:solidFill>
            <a:srgbClr val="E15364"/>
          </a:solidFill>
          <a:ln>
            <a:noFill/>
          </a:ln>
          <a:effectLst/>
        </p:spPr>
        <p:txBody>
          <a:bodyPr rtlCol="0" anchor="ctr"/>
          <a:lstStyle/>
          <a:p>
            <a:pPr algn="ctr"/>
          </a:p>
        </p:txBody>
      </p:sp>
      <p:sp>
        <p:nvSpPr>
          <p:cNvPr id="9" name="Rectangle 8"/>
          <p:cNvSpPr/>
          <p:nvPr/>
        </p:nvSpPr>
        <p:spPr>
          <a:xfrm>
            <a:off x="1737360" y="5486400"/>
            <a:ext cx="365760" cy="228600"/>
          </a:xfrm>
          <a:prstGeom prst="rect">
            <a:avLst/>
          </a:prstGeom>
          <a:solidFill>
            <a:srgbClr val="F7931A"/>
          </a:solidFill>
          <a:ln>
            <a:noFill/>
          </a:ln>
          <a:effectLst/>
        </p:spPr>
        <p:txBody>
          <a:bodyPr rtlCol="0" anchor="ctr"/>
          <a:lstStyle/>
          <a:p>
            <a:pPr algn="ctr"/>
          </a:p>
        </p:txBody>
      </p:sp>
      <p:sp>
        <p:nvSpPr>
          <p:cNvPr id="10" name="Rectangle 9"/>
          <p:cNvSpPr/>
          <p:nvPr/>
        </p:nvSpPr>
        <p:spPr>
          <a:xfrm>
            <a:off x="2286000" y="5486400"/>
            <a:ext cx="365760" cy="228600"/>
          </a:xfrm>
          <a:prstGeom prst="rect">
            <a:avLst/>
          </a:prstGeom>
          <a:solidFill>
            <a:srgbClr val="171717"/>
          </a:solidFill>
          <a:ln>
            <a:noFill/>
          </a:ln>
          <a:effectLst/>
        </p:spPr>
        <p:txBody>
          <a:bodyPr rtlCol="0" anchor="ctr"/>
          <a:lstStyle/>
          <a:p>
            <a:pPr algn="ctr"/>
          </a:p>
        </p:txBody>
      </p:sp>
      <p:sp>
        <p:nvSpPr>
          <p:cNvPr id="11" name="Full guidance: plan-b.foundation/brandin"/>
          <p:cNvSpPr txBox="1"/>
          <p:nvPr/>
        </p:nvSpPr>
        <p:spPr>
          <a:xfrm>
            <a:off x="3108960" y="5486400"/>
            <a:ext cx="8046720" cy="365760"/>
          </a:xfrm>
          <a:prstGeom prst="rect">
            <a:avLst/>
          </a:prstGeom>
          <a:noFill/>
        </p:spPr>
        <p:txBody>
          <a:bodyPr wrap="square" lIns="0" rIns="0" tIns="0" bIns="0">
            <a:spAutoFit/>
          </a:bodyPr>
          <a:lstStyle/>
          <a:p>
            <a:pPr algn="l" marL="0" indent="0">
              <a:defRPr sz="1500" b="0">
                <a:solidFill>
                  <a:srgbClr val="FFFFFF"/>
                </a:solidFill>
                <a:latin typeface="Inter"/>
              </a:defRPr>
              <a:lnSpc>
                <a:spcPct val="112000"/>
              </a:lnSpc>
              <a:spcAft>
                <a:spcPts val="1200"/>
              </a:spcAft>
              <a:buNone/>
            </a:pPr>
            <a:r>
              <a:t>Full guidance: plan-b.foundation/branding/</a:t>
            </a: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cust" preserve="1" showMasterSp="1">
  <p:cSld name="Plan B / Dark / Blank">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hared footer / Organiz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3" name="Shared footer / Tagline"/>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planb-wide-white.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 Id="rId3" Type="http://schemas.openxmlformats.org/officeDocument/2006/relationships/image" Target="../media/planb-wide-color.svg"/><Relationship Id="rId4" Type="http://schemas.openxmlformats.org/officeDocument/2006/relationships/image" Target="../media/image3.png"/><Relationship Id="rId5" Type="http://schemas.openxmlformats.org/officeDocument/2006/relationships/image" Target="../media/planb-square-color.svg"/><Relationship Id="rId6" Type="http://schemas.openxmlformats.org/officeDocument/2006/relationships/image" Target="../media/image4.png"/><Relationship Id="rId7" Type="http://schemas.openxmlformats.org/officeDocument/2006/relationships/image" Target="../media/planb-tall-color.sv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png"/><Relationship Id="rId3" Type="http://schemas.openxmlformats.org/officeDocument/2006/relationships/image" Target="../media/planb-wide-black.svg"/><Relationship Id="rId4" Type="http://schemas.openxmlformats.org/officeDocument/2006/relationships/image" Target="../media/image6.png"/><Relationship Id="rId5" Type="http://schemas.openxmlformats.org/officeDocument/2006/relationships/image" Target="../media/planb-square-black.svg"/><Relationship Id="rId6" Type="http://schemas.openxmlformats.org/officeDocument/2006/relationships/image" Target="../media/image7.png"/><Relationship Id="rId7" Type="http://schemas.openxmlformats.org/officeDocument/2006/relationships/image" Target="../media/planb-tall-black.sv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png"/><Relationship Id="rId3" Type="http://schemas.openxmlformats.org/officeDocument/2006/relationships/image" Target="../media/planb-wide-white.svg"/><Relationship Id="rId4" Type="http://schemas.openxmlformats.org/officeDocument/2006/relationships/image" Target="../media/image8.png"/><Relationship Id="rId5" Type="http://schemas.openxmlformats.org/officeDocument/2006/relationships/image" Target="../media/planb-square-white.svg"/><Relationship Id="rId6" Type="http://schemas.openxmlformats.org/officeDocument/2006/relationships/image" Target="../media/image9.png"/><Relationship Id="rId7" Type="http://schemas.openxmlformats.org/officeDocument/2006/relationships/image" Target="../media/planb-tall-white.svg"/><Relationship Id="rId8"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3"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FFFFFF"/>
                </a:solidFill>
                <a:latin typeface="Inter"/>
              </a:defRPr>
              <a:lnSpc>
                <a:spcPct val="112000"/>
              </a:lnSpc>
              <a:spcAft>
                <a:spcPts val="1200"/>
              </a:spcAft>
              <a:buNone/>
            </a:pPr>
            <a:r>
              <a:t>[Presentation</a:t>
            </a:r>
          </a:p>
          <a:p>
            <a:pPr algn="l" marL="0" indent="0">
              <a:defRPr sz="4800" b="1">
                <a:solidFill>
                  <a:srgbClr val="FFFFFF"/>
                </a:solidFill>
                <a:latin typeface="Inter"/>
              </a:defRPr>
              <a:lnSpc>
                <a:spcPct val="112000"/>
              </a:lnSpc>
              <a:spcAft>
                <a:spcPts val="1200"/>
              </a:spcAft>
              <a:buNone/>
            </a:pPr>
            <a:r>
              <a:t>title]</a:t>
            </a:r>
          </a:p>
        </p:txBody>
      </p:sp>
      <p:sp>
        <p:nvSpPr>
          <p:cNvPr id="4"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[A clear sentence about the civic purpose]</a:t>
            </a:r>
          </a:p>
        </p:txBody>
      </p:sp>
      <p:sp>
        <p:nvSpPr>
          <p:cNvPr id="5"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FFFFFF"/>
                </a:solidFill>
                <a:latin typeface="Inter"/>
              </a:defRPr>
              <a:lnSpc>
                <a:spcPct val="112000"/>
              </a:lnSpc>
              <a:spcAft>
                <a:spcPts val="1200"/>
              </a:spcAft>
              <a:buNone/>
            </a:pPr>
            <a:r>
              <a:t>[Presenter / team]</a:t>
            </a:r>
          </a:p>
          <a:p>
            <a:pPr algn="l" marL="0" indent="0">
              <a:defRPr sz="1700" b="0">
                <a:solidFill>
                  <a:srgbClr val="FFFFFF"/>
                </a:solidFill>
                <a:latin typeface="Inter"/>
              </a:defRPr>
              <a:lnSpc>
                <a:spcPct val="112000"/>
              </a:lnSpc>
              <a:spcAft>
                <a:spcPts val="1200"/>
              </a:spcAft>
              <a:buNone/>
            </a:pPr>
            <a:r>
              <a:t>[Event · date]</a:t>
            </a:r>
          </a:p>
        </p:txBody>
      </p:sp>
      <p:sp>
        <p:nvSpPr>
          <p:cNvPr id="6" name="Cover / Background panel"/>
          <p:cNvSpPr/>
          <p:nvPr/>
        </p:nvSpPr>
        <p:spPr>
          <a:xfrm>
            <a:off x="7818120" y="0"/>
            <a:ext cx="4379976" cy="6080760"/>
          </a:xfrm>
          <a:prstGeom prst="rect">
            <a:avLst/>
          </a:prstGeom>
          <a:solidFill>
            <a:srgbClr val="211D1D"/>
          </a:solidFill>
          <a:ln>
            <a:noFill/>
          </a:ln>
          <a:effectLst/>
        </p:spPr>
        <p:txBody>
          <a:bodyPr rtlCol="0" anchor="ctr"/>
          <a:lstStyle/>
          <a:p>
            <a:pPr algn="ctr"/>
          </a:p>
        </p:txBody>
      </p:sp>
      <p:pic>
        <p:nvPicPr>
          <p:cNvPr id="7" name="Logo / Wide / White (SVG)"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302752" y="1325880"/>
            <a:ext cx="3401568" cy="720671"/>
          </a:xfrm>
          <a:prstGeom prst="rect">
            <a:avLst/>
          </a:prstGeom>
        </p:spPr>
      </p:pic>
      <p:sp>
        <p:nvSpPr>
          <p:cNvPr id="8" name="Cover / Editable values"/>
          <p:cNvSpPr txBox="1"/>
          <p:nvPr/>
        </p:nvSpPr>
        <p:spPr>
          <a:xfrm>
            <a:off x="8302752" y="2788920"/>
            <a:ext cx="3291840" cy="2103120"/>
          </a:xfrm>
          <a:prstGeom prst="rect">
            <a:avLst/>
          </a:prstGeom>
          <a:noFill/>
        </p:spPr>
        <p:txBody>
          <a:bodyPr wrap="square" lIns="0" rIns="0" tIns="0" bIns="0">
            <a:spAutoFit/>
          </a:bodyPr>
          <a:lstStyle/>
          <a:p>
            <a:pPr algn="l" marL="0" indent="0">
              <a:defRPr sz="2900" b="1">
                <a:solidFill>
                  <a:srgbClr val="FFFFFF"/>
                </a:solidFill>
                <a:latin typeface="Inter"/>
              </a:defRPr>
              <a:lnSpc>
                <a:spcPct val="112000"/>
              </a:lnSpc>
              <a:spcAft>
                <a:spcPts val="1200"/>
              </a:spcAft>
              <a:buNone/>
            </a:pPr>
            <a:r>
              <a:t>Open.</a:t>
            </a:r>
          </a:p>
          <a:p>
            <a:pPr algn="l" marL="0" indent="0">
              <a:defRPr sz="2900" b="1">
                <a:solidFill>
                  <a:srgbClr val="FFFFFF"/>
                </a:solidFill>
                <a:latin typeface="Inter"/>
              </a:defRPr>
              <a:lnSpc>
                <a:spcPct val="112000"/>
              </a:lnSpc>
              <a:spcAft>
                <a:spcPts val="1200"/>
              </a:spcAft>
              <a:buNone/>
            </a:pPr>
            <a:r>
              <a:t>Capable.</a:t>
            </a:r>
          </a:p>
          <a:p>
            <a:pPr algn="l" marL="0" indent="0">
              <a:defRPr sz="2900" b="1">
                <a:solidFill>
                  <a:srgbClr val="FFFFFF"/>
                </a:solidFill>
                <a:latin typeface="Inter"/>
              </a:defRPr>
              <a:lnSpc>
                <a:spcPct val="112000"/>
              </a:lnSpc>
              <a:spcAft>
                <a:spcPts val="1200"/>
              </a:spcAft>
              <a:buNone/>
            </a:pPr>
            <a:r>
              <a:t>Curious.</a:t>
            </a:r>
          </a:p>
          <a:p>
            <a:pPr algn="l" marL="0" indent="0">
              <a:defRPr sz="2900" b="1">
                <a:solidFill>
                  <a:srgbClr val="FFFFFF"/>
                </a:solidFill>
                <a:latin typeface="Inter"/>
              </a:defRPr>
              <a:lnSpc>
                <a:spcPct val="112000"/>
              </a:lnSpc>
              <a:spcAft>
                <a:spcPts val="1200"/>
              </a:spcAft>
              <a:buNone/>
            </a:pPr>
            <a:r>
              <a:t>Grounded.</a:t>
            </a:r>
          </a:p>
        </p:txBody>
      </p:sp>
      <p:sp>
        <p:nvSpPr>
          <p:cNvPr id="9" name="Cover / Movable gradient"/>
          <p:cNvSpPr/>
          <p:nvPr/>
        </p:nvSpPr>
        <p:spPr>
          <a:xfrm>
            <a:off x="7818120" y="0"/>
            <a:ext cx="4379976" cy="36576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1">
  <p:cSld>
    <p:bg>
      <p:bgPr>
        <a:solidFill>
          <a:srgbClr val="1A1717"/>
        </a:solidFill>
        <a:effectLst/>
      </p:bgPr>
    </p:bg>
    <p:spTree>
      <p:nvGrpSpPr>
        <p:cNvPr id="1" name=""/>
        <p:cNvGrpSpPr/>
        <p:nvPr/>
      </p:nvGrpSpPr>
      <p:grpSpPr/>
      <p:sp>
        <p:nvSpPr>
          <p:cNvPr id="3"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FFFFFF"/>
                </a:solidFill>
                <a:latin typeface="Inter"/>
              </a:defRPr>
              <a:lnSpc>
                <a:spcPct val="112000"/>
              </a:lnSpc>
              <a:spcAft>
                <a:spcPts val="1200"/>
              </a:spcAft>
              <a:buNone/>
            </a:pPr>
            <a:r>
              <a:t>[Section title]</a:t>
            </a:r>
          </a:p>
        </p:txBody>
      </p:sp>
      <p:sp>
        <p:nvSpPr>
          <p:cNvPr id="4"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FFFFFF"/>
                </a:solidFill>
                <a:latin typeface="Inter"/>
              </a:defRPr>
              <a:lnSpc>
                <a:spcPct val="112000"/>
              </a:lnSpc>
              <a:spcAft>
                <a:spcPts val="1200"/>
              </a:spcAft>
              <a:buNone/>
            </a:pPr>
            <a:r>
              <a:t>[One sentence that sets the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[Lead with the point]</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[Explain why this matters to the audience]</a:t>
            </a:r>
          </a:p>
        </p:txBody>
      </p:sp>
      <p:sp>
        <p:nvSpPr>
          <p:cNvPr id="5"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FFFFFF"/>
                </a:solidFill>
                <a:latin typeface="Inter"/>
              </a:defRPr>
              <a:lnSpc>
                <a:spcPct val="112000"/>
              </a:lnSpc>
              <a:spcAft>
                <a:spcPts val="1200"/>
              </a:spcAft>
              <a:buNone/>
            </a:pPr>
            <a:r>
              <a:t>[First idea — one concise sentence]</a:t>
            </a:r>
          </a:p>
          <a:p>
            <a:pPr algn="l" marL="0" indent="0">
              <a:defRPr sz="2700" b="0">
                <a:solidFill>
                  <a:srgbClr val="FFFFFF"/>
                </a:solidFill>
                <a:latin typeface="Inter"/>
              </a:defRPr>
              <a:lnSpc>
                <a:spcPct val="112000"/>
              </a:lnSpc>
              <a:spcAft>
                <a:spcPts val="1200"/>
              </a:spcAft>
              <a:buNone/>
            </a:pPr>
            <a:r>
              <a:t>[Second idea — one concise sentence]</a:t>
            </a:r>
          </a:p>
          <a:p>
            <a:pPr algn="l" marL="0" indent="0">
              <a:defRPr sz="2700" b="0">
                <a:solidFill>
                  <a:srgbClr val="FFFFFF"/>
                </a:solidFill>
                <a:latin typeface="Inter"/>
              </a:defRPr>
              <a:lnSpc>
                <a:spcPct val="112000"/>
              </a:lnSpc>
              <a:spcAft>
                <a:spcPts val="1200"/>
              </a:spcAft>
              <a:buNone/>
            </a:pPr>
            <a:r>
              <a:t>[Third idea — one concise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[Compare two ideas]</a:t>
            </a:r>
          </a:p>
        </p:txBody>
      </p:sp>
      <p:sp>
        <p:nvSpPr>
          <p:cNvPr id="4"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[First perspective]</a:t>
            </a:r>
          </a:p>
        </p:txBody>
      </p:sp>
      <p:sp>
        <p:nvSpPr>
          <p:cNvPr id="5"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[Explain the idea in 40 words or fewer. Keep sentences concrete and easy to read.]</a:t>
            </a:r>
          </a:p>
        </p:txBody>
      </p:sp>
      <p:sp>
        <p:nvSpPr>
          <p:cNvPr id="6"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[Second perspective]</a:t>
            </a:r>
          </a:p>
        </p:txBody>
      </p:sp>
      <p:sp>
        <p:nvSpPr>
          <p:cNvPr id="7"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[Explain the difference or consequence. Use the same level of detail as the first column.]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the place visible]</a:t>
            </a:r>
          </a:p>
        </p:txBody>
      </p:sp>
      <p:sp>
        <p:nvSpPr>
          <p:cNvPr id="6"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[Insert a documentary photograph]</a:t>
            </a:r>
          </a:p>
        </p:txBody>
      </p:sp>
      <p:sp>
        <p:nvSpPr>
          <p:cNvPr id="7"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FFFFFF"/>
                </a:solidFill>
                <a:latin typeface="Inter"/>
              </a:defRPr>
              <a:lnSpc>
                <a:spcPct val="112000"/>
              </a:lnSpc>
              <a:spcAft>
                <a:spcPts val="1200"/>
              </a:spcAft>
              <a:buNone/>
            </a:pPr>
            <a:r>
              <a:t>[What should we notice?]</a:t>
            </a:r>
          </a:p>
        </p:txBody>
      </p:sp>
      <p:sp>
        <p:nvSpPr>
          <p:cNvPr id="8"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[Connect the image to the public purpose. Use real Lugano, civic spaces, workshops or people making and learning.]</a:t>
            </a:r>
          </a:p>
        </p:txBody>
      </p:sp>
      <p:sp>
        <p:nvSpPr>
          <p:cNvPr id="9"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FFFFFF"/>
                </a:solidFill>
                <a:latin typeface="Inter"/>
              </a:defRPr>
              <a:lnSpc>
                <a:spcPct val="112000"/>
              </a:lnSpc>
              <a:spcAft>
                <a:spcPts val="1200"/>
              </a:spcAft>
              <a:buNone/>
            </a:pPr>
            <a:r>
              <a:t>[Photo credit / source / permission]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[Say what the data shows]</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[Unit, population and time period]</a:t>
            </a:r>
          </a:p>
        </p:txBody>
      </p:sp>
      <p:sp>
        <p:nvSpPr>
          <p:cNvPr id="6"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FFFFFF"/>
                </a:solidFill>
                <a:latin typeface="Inter"/>
              </a:defRPr>
              <a:lnSpc>
                <a:spcPct val="112000"/>
              </a:lnSpc>
              <a:spcAft>
                <a:spcPts val="1200"/>
              </a:spcAft>
              <a:buNone/>
            </a:pPr>
            <a:r>
              <a:t>[The takeaway]</a:t>
            </a:r>
          </a:p>
        </p:txBody>
      </p:sp>
      <p:sp>
        <p:nvSpPr>
          <p:cNvPr id="7"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[Explain the implication and the limits of the evidence.]</a:t>
            </a:r>
          </a:p>
        </p:txBody>
      </p:sp>
      <p:sp>
        <p:nvSpPr>
          <p:cNvPr id="8"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FFFFFF"/>
                </a:solidFill>
                <a:latin typeface="Inter"/>
              </a:defRPr>
              <a:lnSpc>
                <a:spcPct val="112000"/>
              </a:lnSpc>
              <a:spcAft>
                <a:spcPts val="1200"/>
              </a:spcAft>
              <a:buNone/>
            </a:pPr>
            <a:r>
              <a:t>ILLUSTRATIVE DATA ONLY · Replace values and add a source before presenting.</a:t>
            </a:r>
          </a:p>
        </p:txBody>
      </p:sp>
      <p:graphicFrame>
        <p:nvGraphicFramePr>
          <p:cNvPr id="9" name="Chart 8"/>
          <p:cNvGraphicFramePr>
            <a:graphicFrameLocks noGrp="1"/>
          </p:cNvGraphicFramePr>
          <p:nvPr/>
        </p:nvGraphicFramePr>
        <p:xfrm>
          <a:off x="685800" y="2423160"/>
          <a:ext cx="713232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a decision easier]</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[Explain what the comparison includes]</a:t>
            </a:r>
          </a:p>
        </p:txBody>
      </p:sp>
      <p:sp>
        <p:nvSpPr>
          <p:cNvPr id="6"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FFFFFF"/>
                </a:solidFill>
                <a:latin typeface="Inter"/>
              </a:defRPr>
              <a:lnSpc>
                <a:spcPct val="112000"/>
              </a:lnSpc>
              <a:spcAft>
                <a:spcPts val="1200"/>
              </a:spcAft>
              <a:buNone/>
            </a:pPr>
            <a:r>
              <a:t>[Source / definitions / caveat]</a:t>
            </a:r>
          </a:p>
        </p:txBody>
      </p:sp>
      <p:graphicFrame>
        <p:nvGraphicFramePr>
          <p:cNvPr id="7" name="Table 6"/>
          <p:cNvGraphicFramePr>
            <a:graphicFrameLocks noGrp="1"/>
          </p:cNvGraphicFramePr>
          <p:nvPr/>
        </p:nvGraphicFramePr>
        <p:xfrm>
          <a:off x="640080" y="2331720"/>
          <a:ext cx="10927080" cy="3108960"/>
        </p:xfrm>
        <a:graphic>
          <a:graphicData uri="http://schemas.openxmlformats.org/drawingml/2006/table">
            <a:tbl>
              <a:tblPr firstRow="1" bandRow="1">
                <a:tableStyleId>{5C22544A-7EE6-4342-B048-85BDC9FD1C3A}</a:tableStyleId>
              </a:tblPr>
              <a:tblGrid>
                <a:gridCol w="3642360"/>
                <a:gridCol w="3642360"/>
                <a:gridCol w="3642360"/>
              </a:tblGrid>
              <a:tr h="777240">
                <a:tc>
                  <a:txBody>
                    <a:bodyPr/>
                    <a:lstStyle/>
                    <a:p>
                      <a:pPr>
                        <a:defRPr sz="2000" b="1">
                          <a:solidFill>
                            <a:srgbClr val="FFFFFF"/>
                          </a:solidFill>
                          <a:latin typeface="Inter"/>
                        </a:defRPr>
                      </a:pPr>
                      <a:r>
                        <a:t>[Option]</a:t>
                      </a:r>
                    </a:p>
                  </a:txBody>
                  <a:tcPr marL="164592" marT="128016">
                    <a:solidFill>
                      <a:srgbClr val="211D1D"/>
                    </a:solidFill>
                  </a:tcPr>
                </a:tc>
                <a:tc>
                  <a:txBody>
                    <a:bodyPr/>
                    <a:lstStyle/>
                    <a:p>
                      <a:pPr>
                        <a:defRPr sz="2000" b="1">
                          <a:solidFill>
                            <a:srgbClr val="FFFFFF"/>
                          </a:solidFill>
                          <a:latin typeface="Inter"/>
                        </a:defRPr>
                      </a:pPr>
                      <a:r>
                        <a:t>[Public benefit]</a:t>
                      </a:r>
                    </a:p>
                  </a:txBody>
                  <a:tcPr marL="164592" marT="128016">
                    <a:solidFill>
                      <a:srgbClr val="211D1D"/>
                    </a:solidFill>
                  </a:tcPr>
                </a:tc>
                <a:tc>
                  <a:txBody>
                    <a:bodyPr/>
                    <a:lstStyle/>
                    <a:p>
                      <a:pPr>
                        <a:defRPr sz="2000" b="1">
                          <a:solidFill>
                            <a:srgbClr val="FFFFFF"/>
                          </a:solidFill>
                          <a:latin typeface="Inter"/>
                        </a:defRPr>
                      </a:pPr>
                      <a:r>
                        <a:t>[Consideration]</a:t>
                      </a:r>
                    </a:p>
                  </a:txBody>
                  <a:tcPr marL="164592" marT="128016">
                    <a:solidFill>
                      <a:srgbClr val="211D1D"/>
                    </a:solidFill>
                  </a:tcPr>
                </a:tc>
              </a:tr>
              <a:tr h="777240">
                <a:tc>
                  <a:txBody>
                    <a:bodyPr/>
                    <a:lstStyle/>
                    <a:p>
                      <a:pPr>
                        <a:defRPr sz="2000" b="0">
                          <a:solidFill>
                            <a:srgbClr val="FFFFFF"/>
                          </a:solidFill>
                          <a:latin typeface="Inter"/>
                        </a:defRPr>
                      </a:pPr>
                      <a:r>
                        <a:t>[Option A]</a:t>
                      </a:r>
                    </a:p>
                  </a:txBody>
                  <a:tcPr marL="164592" marT="128016">
                    <a:solidFill>
                      <a:srgbClr val="1A1717"/>
                    </a:solidFill>
                  </a:tcPr>
                </a:tc>
                <a:tc>
                  <a:txBody>
                    <a:bodyPr/>
                    <a:lstStyle/>
                    <a:p>
                      <a:pPr>
                        <a:defRPr sz="2000" b="0">
                          <a:solidFill>
                            <a:srgbClr val="FFFFFF"/>
                          </a:solidFill>
                          <a:latin typeface="Inter"/>
                        </a:defRPr>
                      </a:pPr>
                      <a:r>
                        <a:t>[Benefit]</a:t>
                      </a:r>
                    </a:p>
                  </a:txBody>
                  <a:tcPr marL="164592" marT="128016">
                    <a:solidFill>
                      <a:srgbClr val="1A1717"/>
                    </a:solidFill>
                  </a:tcPr>
                </a:tc>
                <a:tc>
                  <a:txBody>
                    <a:bodyPr/>
                    <a:lstStyle/>
                    <a:p>
                      <a:pPr>
                        <a:defRPr sz="2000" b="0">
                          <a:solidFill>
                            <a:srgbClr val="FFFFFF"/>
                          </a:solidFill>
                          <a:latin typeface="Inter"/>
                        </a:defRPr>
                      </a:pPr>
                      <a:r>
                        <a:t>[Constraint]</a:t>
                      </a:r>
                    </a:p>
                  </a:txBody>
                  <a:tcPr marL="164592" marT="128016">
                    <a:solidFill>
                      <a:srgbClr val="1A1717"/>
                    </a:solidFill>
                  </a:tcPr>
                </a:tc>
              </a:tr>
              <a:tr h="777240">
                <a:tc>
                  <a:txBody>
                    <a:bodyPr/>
                    <a:lstStyle/>
                    <a:p>
                      <a:pPr>
                        <a:defRPr sz="2000" b="0">
                          <a:solidFill>
                            <a:srgbClr val="FFFFFF"/>
                          </a:solidFill>
                          <a:latin typeface="Inter"/>
                        </a:defRPr>
                      </a:pPr>
                      <a:r>
                        <a:t>[Option B]</a:t>
                      </a:r>
                    </a:p>
                  </a:txBody>
                  <a:tcPr marL="164592" marT="128016">
                    <a:solidFill>
                      <a:srgbClr val="171717"/>
                    </a:solidFill>
                  </a:tcPr>
                </a:tc>
                <a:tc>
                  <a:txBody>
                    <a:bodyPr/>
                    <a:lstStyle/>
                    <a:p>
                      <a:pPr>
                        <a:defRPr sz="2000" b="0">
                          <a:solidFill>
                            <a:srgbClr val="FFFFFF"/>
                          </a:solidFill>
                          <a:latin typeface="Inter"/>
                        </a:defRPr>
                      </a:pPr>
                      <a:r>
                        <a:t>[Benefit]</a:t>
                      </a:r>
                    </a:p>
                  </a:txBody>
                  <a:tcPr marL="164592" marT="128016">
                    <a:solidFill>
                      <a:srgbClr val="171717"/>
                    </a:solidFill>
                  </a:tcPr>
                </a:tc>
                <a:tc>
                  <a:txBody>
                    <a:bodyPr/>
                    <a:lstStyle/>
                    <a:p>
                      <a:pPr>
                        <a:defRPr sz="2000" b="0">
                          <a:solidFill>
                            <a:srgbClr val="FFFFFF"/>
                          </a:solidFill>
                          <a:latin typeface="Inter"/>
                        </a:defRPr>
                      </a:pPr>
                      <a:r>
                        <a:t>[Constraint]</a:t>
                      </a:r>
                    </a:p>
                  </a:txBody>
                  <a:tcPr marL="164592" marT="128016">
                    <a:solidFill>
                      <a:srgbClr val="171717"/>
                    </a:solidFill>
                  </a:tcPr>
                </a:tc>
              </a:tr>
              <a:tr h="777240">
                <a:tc>
                  <a:txBody>
                    <a:bodyPr/>
                    <a:lstStyle/>
                    <a:p>
                      <a:pPr>
                        <a:defRPr sz="2000" b="0">
                          <a:solidFill>
                            <a:srgbClr val="FFFFFF"/>
                          </a:solidFill>
                          <a:latin typeface="Inter"/>
                        </a:defRPr>
                      </a:pPr>
                      <a:r>
                        <a:t>[Option C]</a:t>
                      </a:r>
                    </a:p>
                  </a:txBody>
                  <a:tcPr marL="164592" marT="128016">
                    <a:solidFill>
                      <a:srgbClr val="1A1717"/>
                    </a:solidFill>
                  </a:tcPr>
                </a:tc>
                <a:tc>
                  <a:txBody>
                    <a:bodyPr/>
                    <a:lstStyle/>
                    <a:p>
                      <a:pPr>
                        <a:defRPr sz="2000" b="0">
                          <a:solidFill>
                            <a:srgbClr val="FFFFFF"/>
                          </a:solidFill>
                          <a:latin typeface="Inter"/>
                        </a:defRPr>
                      </a:pPr>
                      <a:r>
                        <a:t>[Benefit]</a:t>
                      </a:r>
                    </a:p>
                  </a:txBody>
                  <a:tcPr marL="164592" marT="128016">
                    <a:solidFill>
                      <a:srgbClr val="1A1717"/>
                    </a:solidFill>
                  </a:tcPr>
                </a:tc>
                <a:tc>
                  <a:txBody>
                    <a:bodyPr/>
                    <a:lstStyle/>
                    <a:p>
                      <a:pPr>
                        <a:defRPr sz="2000" b="0">
                          <a:solidFill>
                            <a:srgbClr val="FFFFFF"/>
                          </a:solidFill>
                          <a:latin typeface="Inter"/>
                        </a:defRPr>
                      </a:pPr>
                      <a:r>
                        <a:t>[Constraint]</a:t>
                      </a:r>
                    </a:p>
                  </a:txBody>
                  <a:tcPr marL="164592" marT="128016">
                    <a:solidFill>
                      <a:srgbClr val="1A171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3"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FFFFFF"/>
                </a:solidFill>
                <a:latin typeface="Inter"/>
              </a:defRPr>
              <a:lnSpc>
                <a:spcPct val="112000"/>
              </a:lnSpc>
              <a:spcAft>
                <a:spcPts val="1200"/>
              </a:spcAft>
              <a:buNone/>
            </a:pPr>
            <a:r>
              <a:t>[A short quotation,</a:t>
            </a:r>
          </a:p>
          <a:p>
            <a:pPr algn="l" marL="0" indent="0">
              <a:defRPr sz="4200" b="1">
                <a:solidFill>
                  <a:srgbClr val="FFFFFF"/>
                </a:solidFill>
                <a:latin typeface="Inter"/>
              </a:defRPr>
              <a:lnSpc>
                <a:spcPct val="112000"/>
              </a:lnSpc>
              <a:spcAft>
                <a:spcPts val="1200"/>
              </a:spcAft>
              <a:buNone/>
            </a:pPr>
            <a:r>
              <a:t>accurately attributed.]</a:t>
            </a:r>
          </a:p>
        </p:txBody>
      </p:sp>
      <p:sp>
        <p:nvSpPr>
          <p:cNvPr id="4"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FFFFFF"/>
                </a:solidFill>
                <a:latin typeface="Inter"/>
              </a:defRPr>
              <a:lnSpc>
                <a:spcPct val="112000"/>
              </a:lnSpc>
              <a:spcAft>
                <a:spcPts val="1200"/>
              </a:spcAft>
              <a:buNone/>
            </a:pPr>
            <a:r>
              <a:t>[Speaker / role]</a:t>
            </a:r>
          </a:p>
          <a:p>
            <a:pPr algn="l" marL="0" indent="0">
              <a:defRPr sz="2000" b="0">
                <a:solidFill>
                  <a:srgbClr val="FFFFFF"/>
                </a:solidFill>
                <a:latin typeface="Inter"/>
              </a:defRPr>
              <a:lnSpc>
                <a:spcPct val="112000"/>
              </a:lnSpc>
              <a:spcAft>
                <a:spcPts val="1200"/>
              </a:spcAft>
              <a:buNone/>
            </a:pPr>
            <a:r>
              <a:t>[Source ·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[What happens next?]</a:t>
            </a:r>
          </a:p>
        </p:txBody>
      </p:sp>
      <p:sp>
        <p:nvSpPr>
          <p:cNvPr id="4"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[Learn]</a:t>
            </a:r>
          </a:p>
        </p:txBody>
      </p:sp>
      <p:sp>
        <p:nvSpPr>
          <p:cNvPr id="5"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6"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[Test]</a:t>
            </a:r>
          </a:p>
        </p:txBody>
      </p:sp>
      <p:sp>
        <p:nvSpPr>
          <p:cNvPr id="7"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8"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[Contribute]</a:t>
            </a:r>
          </a:p>
        </p:txBody>
      </p:sp>
      <p:sp>
        <p:nvSpPr>
          <p:cNvPr id="9"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10"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[Contact / project URL]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it yours. Keep it Plan B.</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Delete this guidance slide before presenting.</a:t>
            </a:r>
          </a:p>
        </p:txBody>
      </p:sp>
      <p:sp>
        <p:nvSpPr>
          <p:cNvPr id="5"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Edit the slide</a:t>
            </a:r>
          </a:p>
          <a:p>
            <a:pPr algn="l" marL="0" indent="0">
              <a:defRPr sz="2300" b="0">
                <a:solidFill>
                  <a:srgbClr val="FFFFFF"/>
                </a:solidFill>
                <a:latin typeface="Inter"/>
              </a:defRPr>
              <a:lnSpc>
                <a:spcPct val="112000"/>
              </a:lnSpc>
              <a:spcAft>
                <a:spcPts val="1200"/>
              </a:spcAft>
              <a:buNone/>
            </a:pPr>
            <a:r>
              <a:t>Duplicate the cover to keep its movable SVG logo, text, panel and top gradient. Copy other logo forms from the library slides. Use New Slide for content layouts.</a:t>
            </a:r>
          </a:p>
        </p:txBody>
      </p:sp>
      <p:sp>
        <p:nvSpPr>
          <p:cNvPr id="6"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Edit every footer at once</a:t>
            </a:r>
          </a:p>
          <a:p>
            <a:pPr algn="l" marL="0" indent="0">
              <a:defRPr sz="2300" b="0">
                <a:solidFill>
                  <a:srgbClr val="FFFFFF"/>
                </a:solidFill>
                <a:latin typeface="Inter"/>
              </a:defRPr>
              <a:lnSpc>
                <a:spcPct val="112000"/>
              </a:lnSpc>
              <a:spcAft>
                <a:spcPts val="1200"/>
              </a:spcAft>
              <a:buNone/>
            </a:pPr>
            <a:r>
              <a:t>View → Slide Master → select the top parent master. Edit the two footer text boxes, then Close Master View. Delete this guide and the logo library before presenting.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1">
  <p:cSld>
    <p:spTree>
      <p:nvGrpSpPr>
        <p:cNvPr id="1" name=""/>
        <p:cNvGrpSpPr/>
        <p:nvPr/>
      </p:nvGrpSpPr>
      <p:grpSpPr/>
      <p:sp>
        <p:nvSpPr>
          <p:cNvPr id="2"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Logo library / Color</a:t>
            </a:r>
          </a:p>
        </p:txBody>
      </p:sp>
      <p:sp>
        <p:nvSpPr>
          <p:cNvPr id="3"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Select a logo and copy it to any slide. Delete this library before presenting.</a:t>
            </a:r>
          </a:p>
        </p:txBody>
      </p:sp>
      <p:sp>
        <p:nvSpPr>
          <p:cNvPr id="4" name="Wide"/>
          <p:cNvSpPr txBox="1"/>
          <p:nvPr/>
        </p:nvSpPr>
        <p:spPr>
          <a:xfrm>
            <a:off x="594360" y="2194560"/>
            <a:ext cx="3383280" cy="411480"/>
          </a:xfrm>
          <a:prstGeom prst="rect">
            <a:avLst/>
          </a:prstGeom>
          <a:noFill/>
        </p:spPr>
        <p:txBody>
          <a:bodyPr wrap="square" lIns="0" rIns="0" tIns="0" bIns="0">
            <a:spAutoFit/>
          </a:bodyPr>
          <a:lstStyle/>
          <a:p>
            <a:pPr algn="l" marL="0" indent="0">
              <a:defRPr sz="2300" b="1">
                <a:solidFill>
                  <a:srgbClr val="FFFFFF"/>
                </a:solidFill>
                <a:latin typeface="Inter"/>
              </a:defRPr>
              <a:lnSpc>
                <a:spcPct val="112000"/>
              </a:lnSpc>
              <a:spcAft>
                <a:spcPts val="1200"/>
              </a:spcAft>
              <a:buNone/>
            </a:pPr>
            <a:r>
              <a:t>Wide</a:t>
            </a:r>
          </a:p>
        </p:txBody>
      </p:sp>
      <p:sp>
        <p:nvSpPr>
          <p:cNvPr id="5" name="Logo ground / wide"/>
          <p:cNvSpPr/>
          <p:nvPr/>
        </p:nvSpPr>
        <p:spPr>
          <a:xfrm>
            <a:off x="594360" y="2743200"/>
            <a:ext cx="3383280" cy="2971800"/>
          </a:xfrm>
          <a:prstGeom prst="rect">
            <a:avLst/>
          </a:prstGeom>
          <a:solidFill>
            <a:srgbClr val="082952"/>
          </a:solidFill>
          <a:ln>
            <a:noFill/>
          </a:ln>
          <a:effectLst/>
        </p:spPr>
        <p:txBody>
          <a:bodyPr rtlCol="0" anchor="ctr"/>
          <a:lstStyle/>
          <a:p>
            <a:pPr algn="ctr"/>
          </a:p>
        </p:txBody>
      </p:sp>
      <p:pic>
        <p:nvPicPr>
          <p:cNvPr id="6" name="Logo / Wide / Color (SVG)"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22960" y="3850941"/>
            <a:ext cx="2926080" cy="756317"/>
          </a:xfrm>
          <a:prstGeom prst="rect">
            <a:avLst/>
          </a:prstGeom>
        </p:spPr>
      </p:pic>
      <p:sp>
        <p:nvSpPr>
          <p:cNvPr id="7" name="Square"/>
          <p:cNvSpPr txBox="1"/>
          <p:nvPr/>
        </p:nvSpPr>
        <p:spPr>
          <a:xfrm>
            <a:off x="4389120" y="2194560"/>
            <a:ext cx="3383280" cy="411480"/>
          </a:xfrm>
          <a:prstGeom prst="rect">
            <a:avLst/>
          </a:prstGeom>
          <a:noFill/>
        </p:spPr>
        <p:txBody>
          <a:bodyPr wrap="square" lIns="0" rIns="0" tIns="0" bIns="0">
            <a:spAutoFit/>
          </a:bodyPr>
          <a:lstStyle/>
          <a:p>
            <a:pPr algn="l" marL="0" indent="0">
              <a:defRPr sz="2300" b="1">
                <a:solidFill>
                  <a:srgbClr val="FFFFFF"/>
                </a:solidFill>
                <a:latin typeface="Inter"/>
              </a:defRPr>
              <a:lnSpc>
                <a:spcPct val="112000"/>
              </a:lnSpc>
              <a:spcAft>
                <a:spcPts val="1200"/>
              </a:spcAft>
              <a:buNone/>
            </a:pPr>
            <a:r>
              <a:t>Square</a:t>
            </a:r>
          </a:p>
        </p:txBody>
      </p:sp>
      <p:sp>
        <p:nvSpPr>
          <p:cNvPr id="8" name="Logo ground / square"/>
          <p:cNvSpPr/>
          <p:nvPr/>
        </p:nvSpPr>
        <p:spPr>
          <a:xfrm>
            <a:off x="4389120" y="2743200"/>
            <a:ext cx="3383280" cy="2971800"/>
          </a:xfrm>
          <a:prstGeom prst="rect">
            <a:avLst/>
          </a:prstGeom>
          <a:solidFill>
            <a:srgbClr val="082952"/>
          </a:solidFill>
          <a:ln>
            <a:noFill/>
          </a:ln>
          <a:effectLst/>
        </p:spPr>
        <p:txBody>
          <a:bodyPr rtlCol="0" anchor="ctr"/>
          <a:lstStyle/>
          <a:p>
            <a:pPr algn="ctr"/>
          </a:p>
        </p:txBody>
      </p:sp>
      <p:pic>
        <p:nvPicPr>
          <p:cNvPr id="9" name="Logo / Square / Color (SVG)" descr="Lugano's Plan B original logo; existing mark, not a new Foundation logo"/>
          <p:cNvPicPr>
            <a:picLocks noChangeAspect="1"/>
          </p:cNvPicPr>
          <p:nvPr/>
        </p:nvPicPr>
        <p:blipFill>
          <a:blip r:embed="rId4">
            <a:ext uri="{96DAC541-7B7A-43D3-8B79-37D633B846F1}">
              <ns0:svgBlip xmlns:ns0="http://schemas.microsoft.com/office/drawing/2016/SVG/main" r:embed="rId5"/>
            </a:ext>
          </a:blip>
          <a:stretch>
            <a:fillRect/>
          </a:stretch>
        </p:blipFill>
        <p:spPr>
          <a:xfrm>
            <a:off x="4617720" y="3713523"/>
            <a:ext cx="2926080" cy="1031154"/>
          </a:xfrm>
          <a:prstGeom prst="rect">
            <a:avLst/>
          </a:prstGeom>
        </p:spPr>
      </p:pic>
      <p:sp>
        <p:nvSpPr>
          <p:cNvPr id="10" name="Tall"/>
          <p:cNvSpPr txBox="1"/>
          <p:nvPr/>
        </p:nvSpPr>
        <p:spPr>
          <a:xfrm>
            <a:off x="8183880" y="2194560"/>
            <a:ext cx="3383280" cy="411480"/>
          </a:xfrm>
          <a:prstGeom prst="rect">
            <a:avLst/>
          </a:prstGeom>
          <a:noFill/>
        </p:spPr>
        <p:txBody>
          <a:bodyPr wrap="square" lIns="0" rIns="0" tIns="0" bIns="0">
            <a:spAutoFit/>
          </a:bodyPr>
          <a:lstStyle/>
          <a:p>
            <a:pPr algn="l" marL="0" indent="0">
              <a:defRPr sz="2300" b="1">
                <a:solidFill>
                  <a:srgbClr val="FFFFFF"/>
                </a:solidFill>
                <a:latin typeface="Inter"/>
              </a:defRPr>
              <a:lnSpc>
                <a:spcPct val="112000"/>
              </a:lnSpc>
              <a:spcAft>
                <a:spcPts val="1200"/>
              </a:spcAft>
              <a:buNone/>
            </a:pPr>
            <a:r>
              <a:t>Tall</a:t>
            </a:r>
          </a:p>
        </p:txBody>
      </p:sp>
      <p:sp>
        <p:nvSpPr>
          <p:cNvPr id="11" name="Logo ground / tall"/>
          <p:cNvSpPr/>
          <p:nvPr/>
        </p:nvSpPr>
        <p:spPr>
          <a:xfrm>
            <a:off x="8183880" y="2743200"/>
            <a:ext cx="3383280" cy="2971800"/>
          </a:xfrm>
          <a:prstGeom prst="rect">
            <a:avLst/>
          </a:prstGeom>
          <a:solidFill>
            <a:srgbClr val="082952"/>
          </a:solidFill>
          <a:ln>
            <a:noFill/>
          </a:ln>
          <a:effectLst/>
        </p:spPr>
        <p:txBody>
          <a:bodyPr rtlCol="0" anchor="ctr"/>
          <a:lstStyle/>
          <a:p>
            <a:pPr algn="ctr"/>
          </a:p>
        </p:txBody>
      </p:sp>
      <p:pic>
        <p:nvPicPr>
          <p:cNvPr id="12" name="Logo / Tall / Color (SVG)" descr="Lugano's Plan B original logo; existing mark, not a new Foundation logo"/>
          <p:cNvPicPr>
            <a:picLocks noChangeAspect="1"/>
          </p:cNvPicPr>
          <p:nvPr/>
        </p:nvPicPr>
        <p:blipFill>
          <a:blip r:embed="rId6">
            <a:ext uri="{96DAC541-7B7A-43D3-8B79-37D633B846F1}">
              <ns0:svgBlip xmlns:ns0="http://schemas.microsoft.com/office/drawing/2016/SVG/main" r:embed="rId7"/>
            </a:ext>
          </a:blip>
          <a:stretch>
            <a:fillRect/>
          </a:stretch>
        </p:blipFill>
        <p:spPr>
          <a:xfrm>
            <a:off x="9121140" y="2971800"/>
            <a:ext cx="1508760" cy="25146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1">
  <p:cSld>
    <p:spTree>
      <p:nvGrpSpPr>
        <p:cNvPr id="1" name=""/>
        <p:cNvGrpSpPr/>
        <p:nvPr/>
      </p:nvGrpSpPr>
      <p:grpSpPr/>
      <p:sp>
        <p:nvSpPr>
          <p:cNvPr id="2"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Logo library / Black</a:t>
            </a:r>
          </a:p>
        </p:txBody>
      </p:sp>
      <p:sp>
        <p:nvSpPr>
          <p:cNvPr id="3"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Select a logo and copy it to any slide. Delete this library before presenting.</a:t>
            </a:r>
          </a:p>
        </p:txBody>
      </p:sp>
      <p:sp>
        <p:nvSpPr>
          <p:cNvPr id="4" name="Wide"/>
          <p:cNvSpPr txBox="1"/>
          <p:nvPr/>
        </p:nvSpPr>
        <p:spPr>
          <a:xfrm>
            <a:off x="594360" y="2194560"/>
            <a:ext cx="3383280" cy="411480"/>
          </a:xfrm>
          <a:prstGeom prst="rect">
            <a:avLst/>
          </a:prstGeom>
          <a:noFill/>
        </p:spPr>
        <p:txBody>
          <a:bodyPr wrap="square" lIns="0" rIns="0" tIns="0" bIns="0">
            <a:spAutoFit/>
          </a:bodyPr>
          <a:lstStyle/>
          <a:p>
            <a:pPr algn="l" marL="0" indent="0">
              <a:defRPr sz="2300" b="1">
                <a:solidFill>
                  <a:srgbClr val="FFFFFF"/>
                </a:solidFill>
                <a:latin typeface="Inter"/>
              </a:defRPr>
              <a:lnSpc>
                <a:spcPct val="112000"/>
              </a:lnSpc>
              <a:spcAft>
                <a:spcPts val="1200"/>
              </a:spcAft>
              <a:buNone/>
            </a:pPr>
            <a:r>
              <a:t>Wide</a:t>
            </a:r>
          </a:p>
        </p:txBody>
      </p:sp>
      <p:sp>
        <p:nvSpPr>
          <p:cNvPr id="5" name="Logo ground / wide"/>
          <p:cNvSpPr/>
          <p:nvPr/>
        </p:nvSpPr>
        <p:spPr>
          <a:xfrm>
            <a:off x="594360" y="2743200"/>
            <a:ext cx="3383280" cy="2971800"/>
          </a:xfrm>
          <a:prstGeom prst="rect">
            <a:avLst/>
          </a:prstGeom>
          <a:solidFill>
            <a:srgbClr val="FFFEFA"/>
          </a:solidFill>
          <a:ln>
            <a:noFill/>
          </a:ln>
          <a:effectLst/>
        </p:spPr>
        <p:txBody>
          <a:bodyPr rtlCol="0" anchor="ctr"/>
          <a:lstStyle/>
          <a:p>
            <a:pPr algn="ctr"/>
          </a:p>
        </p:txBody>
      </p:sp>
      <p:pic>
        <p:nvPicPr>
          <p:cNvPr id="6" name="Logo / Wide / Black (SVG)"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22960" y="3850941"/>
            <a:ext cx="2926080" cy="756317"/>
          </a:xfrm>
          <a:prstGeom prst="rect">
            <a:avLst/>
          </a:prstGeom>
        </p:spPr>
      </p:pic>
      <p:sp>
        <p:nvSpPr>
          <p:cNvPr id="7" name="Square"/>
          <p:cNvSpPr txBox="1"/>
          <p:nvPr/>
        </p:nvSpPr>
        <p:spPr>
          <a:xfrm>
            <a:off x="4389120" y="2194560"/>
            <a:ext cx="3383280" cy="411480"/>
          </a:xfrm>
          <a:prstGeom prst="rect">
            <a:avLst/>
          </a:prstGeom>
          <a:noFill/>
        </p:spPr>
        <p:txBody>
          <a:bodyPr wrap="square" lIns="0" rIns="0" tIns="0" bIns="0">
            <a:spAutoFit/>
          </a:bodyPr>
          <a:lstStyle/>
          <a:p>
            <a:pPr algn="l" marL="0" indent="0">
              <a:defRPr sz="2300" b="1">
                <a:solidFill>
                  <a:srgbClr val="FFFFFF"/>
                </a:solidFill>
                <a:latin typeface="Inter"/>
              </a:defRPr>
              <a:lnSpc>
                <a:spcPct val="112000"/>
              </a:lnSpc>
              <a:spcAft>
                <a:spcPts val="1200"/>
              </a:spcAft>
              <a:buNone/>
            </a:pPr>
            <a:r>
              <a:t>Square</a:t>
            </a:r>
          </a:p>
        </p:txBody>
      </p:sp>
      <p:sp>
        <p:nvSpPr>
          <p:cNvPr id="8" name="Logo ground / square"/>
          <p:cNvSpPr/>
          <p:nvPr/>
        </p:nvSpPr>
        <p:spPr>
          <a:xfrm>
            <a:off x="4389120" y="2743200"/>
            <a:ext cx="3383280" cy="2971800"/>
          </a:xfrm>
          <a:prstGeom prst="rect">
            <a:avLst/>
          </a:prstGeom>
          <a:solidFill>
            <a:srgbClr val="FFFEFA"/>
          </a:solidFill>
          <a:ln>
            <a:noFill/>
          </a:ln>
          <a:effectLst/>
        </p:spPr>
        <p:txBody>
          <a:bodyPr rtlCol="0" anchor="ctr"/>
          <a:lstStyle/>
          <a:p>
            <a:pPr algn="ctr"/>
          </a:p>
        </p:txBody>
      </p:sp>
      <p:pic>
        <p:nvPicPr>
          <p:cNvPr id="9" name="Logo / Square / Black (SVG)" descr="Lugano's Plan B original logo; existing mark, not a new Foundation logo"/>
          <p:cNvPicPr>
            <a:picLocks noChangeAspect="1"/>
          </p:cNvPicPr>
          <p:nvPr/>
        </p:nvPicPr>
        <p:blipFill>
          <a:blip r:embed="rId4">
            <a:ext uri="{96DAC541-7B7A-43D3-8B79-37D633B846F1}">
              <ns0:svgBlip xmlns:ns0="http://schemas.microsoft.com/office/drawing/2016/SVG/main" r:embed="rId5"/>
            </a:ext>
          </a:blip>
          <a:stretch>
            <a:fillRect/>
          </a:stretch>
        </p:blipFill>
        <p:spPr>
          <a:xfrm>
            <a:off x="4617720" y="3713523"/>
            <a:ext cx="2926080" cy="1031154"/>
          </a:xfrm>
          <a:prstGeom prst="rect">
            <a:avLst/>
          </a:prstGeom>
        </p:spPr>
      </p:pic>
      <p:sp>
        <p:nvSpPr>
          <p:cNvPr id="10" name="Tall"/>
          <p:cNvSpPr txBox="1"/>
          <p:nvPr/>
        </p:nvSpPr>
        <p:spPr>
          <a:xfrm>
            <a:off x="8183880" y="2194560"/>
            <a:ext cx="3383280" cy="411480"/>
          </a:xfrm>
          <a:prstGeom prst="rect">
            <a:avLst/>
          </a:prstGeom>
          <a:noFill/>
        </p:spPr>
        <p:txBody>
          <a:bodyPr wrap="square" lIns="0" rIns="0" tIns="0" bIns="0">
            <a:spAutoFit/>
          </a:bodyPr>
          <a:lstStyle/>
          <a:p>
            <a:pPr algn="l" marL="0" indent="0">
              <a:defRPr sz="2300" b="1">
                <a:solidFill>
                  <a:srgbClr val="FFFFFF"/>
                </a:solidFill>
                <a:latin typeface="Inter"/>
              </a:defRPr>
              <a:lnSpc>
                <a:spcPct val="112000"/>
              </a:lnSpc>
              <a:spcAft>
                <a:spcPts val="1200"/>
              </a:spcAft>
              <a:buNone/>
            </a:pPr>
            <a:r>
              <a:t>Tall</a:t>
            </a:r>
          </a:p>
        </p:txBody>
      </p:sp>
      <p:sp>
        <p:nvSpPr>
          <p:cNvPr id="11" name="Logo ground / tall"/>
          <p:cNvSpPr/>
          <p:nvPr/>
        </p:nvSpPr>
        <p:spPr>
          <a:xfrm>
            <a:off x="8183880" y="2743200"/>
            <a:ext cx="3383280" cy="2971800"/>
          </a:xfrm>
          <a:prstGeom prst="rect">
            <a:avLst/>
          </a:prstGeom>
          <a:solidFill>
            <a:srgbClr val="FFFEFA"/>
          </a:solidFill>
          <a:ln>
            <a:noFill/>
          </a:ln>
          <a:effectLst/>
        </p:spPr>
        <p:txBody>
          <a:bodyPr rtlCol="0" anchor="ctr"/>
          <a:lstStyle/>
          <a:p>
            <a:pPr algn="ctr"/>
          </a:p>
        </p:txBody>
      </p:sp>
      <p:pic>
        <p:nvPicPr>
          <p:cNvPr id="12" name="Logo / Tall / Black (SVG)" descr="Lugano's Plan B original logo; existing mark, not a new Foundation logo"/>
          <p:cNvPicPr>
            <a:picLocks noChangeAspect="1"/>
          </p:cNvPicPr>
          <p:nvPr/>
        </p:nvPicPr>
        <p:blipFill>
          <a:blip r:embed="rId6">
            <a:ext uri="{96DAC541-7B7A-43D3-8B79-37D633B846F1}">
              <ns0:svgBlip xmlns:ns0="http://schemas.microsoft.com/office/drawing/2016/SVG/main" r:embed="rId7"/>
            </a:ext>
          </a:blip>
          <a:stretch>
            <a:fillRect/>
          </a:stretch>
        </p:blipFill>
        <p:spPr>
          <a:xfrm>
            <a:off x="9121140" y="2971800"/>
            <a:ext cx="1508760" cy="25146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1">
  <p:cSld>
    <p:spTree>
      <p:nvGrpSpPr>
        <p:cNvPr id="1" name=""/>
        <p:cNvGrpSpPr/>
        <p:nvPr/>
      </p:nvGrpSpPr>
      <p:grpSpPr/>
      <p:sp>
        <p:nvSpPr>
          <p:cNvPr id="2"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Logo library / White</a:t>
            </a:r>
          </a:p>
        </p:txBody>
      </p:sp>
      <p:sp>
        <p:nvSpPr>
          <p:cNvPr id="3"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Select a logo and copy it to any slide. Delete this library before presenting.</a:t>
            </a:r>
          </a:p>
        </p:txBody>
      </p:sp>
      <p:sp>
        <p:nvSpPr>
          <p:cNvPr id="4" name="Wide"/>
          <p:cNvSpPr txBox="1"/>
          <p:nvPr/>
        </p:nvSpPr>
        <p:spPr>
          <a:xfrm>
            <a:off x="594360" y="2194560"/>
            <a:ext cx="3383280" cy="411480"/>
          </a:xfrm>
          <a:prstGeom prst="rect">
            <a:avLst/>
          </a:prstGeom>
          <a:noFill/>
        </p:spPr>
        <p:txBody>
          <a:bodyPr wrap="square" lIns="0" rIns="0" tIns="0" bIns="0">
            <a:spAutoFit/>
          </a:bodyPr>
          <a:lstStyle/>
          <a:p>
            <a:pPr algn="l" marL="0" indent="0">
              <a:defRPr sz="2300" b="1">
                <a:solidFill>
                  <a:srgbClr val="FFFFFF"/>
                </a:solidFill>
                <a:latin typeface="Inter"/>
              </a:defRPr>
              <a:lnSpc>
                <a:spcPct val="112000"/>
              </a:lnSpc>
              <a:spcAft>
                <a:spcPts val="1200"/>
              </a:spcAft>
              <a:buNone/>
            </a:pPr>
            <a:r>
              <a:t>Wide</a:t>
            </a:r>
          </a:p>
        </p:txBody>
      </p:sp>
      <p:sp>
        <p:nvSpPr>
          <p:cNvPr id="5" name="Logo ground / wide"/>
          <p:cNvSpPr/>
          <p:nvPr/>
        </p:nvSpPr>
        <p:spPr>
          <a:xfrm>
            <a:off x="594360" y="2743200"/>
            <a:ext cx="3383280" cy="2971800"/>
          </a:xfrm>
          <a:prstGeom prst="rect">
            <a:avLst/>
          </a:prstGeom>
          <a:solidFill>
            <a:srgbClr val="082952"/>
          </a:solidFill>
          <a:ln>
            <a:noFill/>
          </a:ln>
          <a:effectLst/>
        </p:spPr>
        <p:txBody>
          <a:bodyPr rtlCol="0" anchor="ctr"/>
          <a:lstStyle/>
          <a:p>
            <a:pPr algn="ctr"/>
          </a:p>
        </p:txBody>
      </p:sp>
      <p:pic>
        <p:nvPicPr>
          <p:cNvPr id="6" name="Logo / Wide / White (SVG)"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22960" y="3919134"/>
            <a:ext cx="2926080" cy="619932"/>
          </a:xfrm>
          <a:prstGeom prst="rect">
            <a:avLst/>
          </a:prstGeom>
        </p:spPr>
      </p:pic>
      <p:sp>
        <p:nvSpPr>
          <p:cNvPr id="7" name="Square"/>
          <p:cNvSpPr txBox="1"/>
          <p:nvPr/>
        </p:nvSpPr>
        <p:spPr>
          <a:xfrm>
            <a:off x="4389120" y="2194560"/>
            <a:ext cx="3383280" cy="411480"/>
          </a:xfrm>
          <a:prstGeom prst="rect">
            <a:avLst/>
          </a:prstGeom>
          <a:noFill/>
        </p:spPr>
        <p:txBody>
          <a:bodyPr wrap="square" lIns="0" rIns="0" tIns="0" bIns="0">
            <a:spAutoFit/>
          </a:bodyPr>
          <a:lstStyle/>
          <a:p>
            <a:pPr algn="l" marL="0" indent="0">
              <a:defRPr sz="2300" b="1">
                <a:solidFill>
                  <a:srgbClr val="FFFFFF"/>
                </a:solidFill>
                <a:latin typeface="Inter"/>
              </a:defRPr>
              <a:lnSpc>
                <a:spcPct val="112000"/>
              </a:lnSpc>
              <a:spcAft>
                <a:spcPts val="1200"/>
              </a:spcAft>
              <a:buNone/>
            </a:pPr>
            <a:r>
              <a:t>Square</a:t>
            </a:r>
          </a:p>
        </p:txBody>
      </p:sp>
      <p:sp>
        <p:nvSpPr>
          <p:cNvPr id="8" name="Logo ground / square"/>
          <p:cNvSpPr/>
          <p:nvPr/>
        </p:nvSpPr>
        <p:spPr>
          <a:xfrm>
            <a:off x="4389120" y="2743200"/>
            <a:ext cx="3383280" cy="2971800"/>
          </a:xfrm>
          <a:prstGeom prst="rect">
            <a:avLst/>
          </a:prstGeom>
          <a:solidFill>
            <a:srgbClr val="082952"/>
          </a:solidFill>
          <a:ln>
            <a:noFill/>
          </a:ln>
          <a:effectLst/>
        </p:spPr>
        <p:txBody>
          <a:bodyPr rtlCol="0" anchor="ctr"/>
          <a:lstStyle/>
          <a:p>
            <a:pPr algn="ctr"/>
          </a:p>
        </p:txBody>
      </p:sp>
      <p:pic>
        <p:nvPicPr>
          <p:cNvPr id="9" name="Logo / Square / White (SVG)" descr="Lugano's Plan B original logo; existing mark, not a new Foundation logo"/>
          <p:cNvPicPr>
            <a:picLocks noChangeAspect="1"/>
          </p:cNvPicPr>
          <p:nvPr/>
        </p:nvPicPr>
        <p:blipFill>
          <a:blip r:embed="rId4">
            <a:ext uri="{96DAC541-7B7A-43D3-8B79-37D633B846F1}">
              <ns0:svgBlip xmlns:ns0="http://schemas.microsoft.com/office/drawing/2016/SVG/main" r:embed="rId5"/>
            </a:ext>
          </a:blip>
          <a:stretch>
            <a:fillRect/>
          </a:stretch>
        </p:blipFill>
        <p:spPr>
          <a:xfrm>
            <a:off x="4617720" y="3713523"/>
            <a:ext cx="2926080" cy="1031154"/>
          </a:xfrm>
          <a:prstGeom prst="rect">
            <a:avLst/>
          </a:prstGeom>
        </p:spPr>
      </p:pic>
      <p:sp>
        <p:nvSpPr>
          <p:cNvPr id="10" name="Tall"/>
          <p:cNvSpPr txBox="1"/>
          <p:nvPr/>
        </p:nvSpPr>
        <p:spPr>
          <a:xfrm>
            <a:off x="8183880" y="2194560"/>
            <a:ext cx="3383280" cy="411480"/>
          </a:xfrm>
          <a:prstGeom prst="rect">
            <a:avLst/>
          </a:prstGeom>
          <a:noFill/>
        </p:spPr>
        <p:txBody>
          <a:bodyPr wrap="square" lIns="0" rIns="0" tIns="0" bIns="0">
            <a:spAutoFit/>
          </a:bodyPr>
          <a:lstStyle/>
          <a:p>
            <a:pPr algn="l" marL="0" indent="0">
              <a:defRPr sz="2300" b="1">
                <a:solidFill>
                  <a:srgbClr val="FFFFFF"/>
                </a:solidFill>
                <a:latin typeface="Inter"/>
              </a:defRPr>
              <a:lnSpc>
                <a:spcPct val="112000"/>
              </a:lnSpc>
              <a:spcAft>
                <a:spcPts val="1200"/>
              </a:spcAft>
              <a:buNone/>
            </a:pPr>
            <a:r>
              <a:t>Tall</a:t>
            </a:r>
          </a:p>
        </p:txBody>
      </p:sp>
      <p:sp>
        <p:nvSpPr>
          <p:cNvPr id="11" name="Logo ground / tall"/>
          <p:cNvSpPr/>
          <p:nvPr/>
        </p:nvSpPr>
        <p:spPr>
          <a:xfrm>
            <a:off x="8183880" y="2743200"/>
            <a:ext cx="3383280" cy="2971800"/>
          </a:xfrm>
          <a:prstGeom prst="rect">
            <a:avLst/>
          </a:prstGeom>
          <a:solidFill>
            <a:srgbClr val="082952"/>
          </a:solidFill>
          <a:ln>
            <a:noFill/>
          </a:ln>
          <a:effectLst/>
        </p:spPr>
        <p:txBody>
          <a:bodyPr rtlCol="0" anchor="ctr"/>
          <a:lstStyle/>
          <a:p>
            <a:pPr algn="ctr"/>
          </a:p>
        </p:txBody>
      </p:sp>
      <p:pic>
        <p:nvPicPr>
          <p:cNvPr id="12" name="Logo / Tall / White (SVG)" descr="Lugano's Plan B original logo; existing mark, not a new Foundation logo"/>
          <p:cNvPicPr>
            <a:picLocks noChangeAspect="1"/>
          </p:cNvPicPr>
          <p:nvPr/>
        </p:nvPicPr>
        <p:blipFill>
          <a:blip r:embed="rId6">
            <a:ext uri="{96DAC541-7B7A-43D3-8B79-37D633B846F1}">
              <ns0:svgBlip xmlns:ns0="http://schemas.microsoft.com/office/drawing/2016/SVG/main" r:embed="rId7"/>
            </a:ext>
          </a:blip>
          <a:stretch>
            <a:fillRect/>
          </a:stretch>
        </p:blipFill>
        <p:spPr>
          <a:xfrm>
            <a:off x="9121140" y="2971800"/>
            <a:ext cx="1508760" cy="2514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Plan B Civic Digital Commons">
      <a:dk1>
        <a:srgbClr val="ffffff"/>
      </a:dk1>
      <a:lt1>
        <a:srgbClr val="171717"/>
      </a:lt1>
      <a:dk2>
        <a:srgbClr val="ffffff"/>
      </a:dk2>
      <a:lt2>
        <a:srgbClr val="1a1717"/>
      </a:lt2>
      <a:accent1>
        <a:srgbClr val="ffffff"/>
      </a:accent1>
      <a:accent2>
        <a:srgbClr val="e15364"/>
      </a:accent2>
      <a:accent3>
        <a:srgbClr val="f7931a"/>
      </a:accent3>
      <a:accent4>
        <a:srgbClr val="7468ff"/>
      </a:accent4>
      <a:accent5>
        <a:srgbClr val="ff5db1"/>
      </a:accent5>
      <a:accent6>
        <a:srgbClr val="23f5ff"/>
      </a:accent6>
      <a:hlink>
        <a:srgbClr val="ffffff"/>
      </a:hlink>
      <a:folHlink>
        <a:srgbClr val="7468ff"/>
      </a:folHlink>
    </a:clrScheme>
    <a:fontScheme name="Plan B Inter">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B — Civic Digital Commons / Dark</dc:title>
  <dc:subject>Reusable 16:9 slide layouts and editable starter deck</dc:subject>
  <dc:creator>Plan B Foundation</dc:creator>
  <cp:keywords>Plan B, branding, template, Civic Digital Commons</cp:keywords>
  <dc:description>Generated from slides/build_template.py. Examples are instructions or explicitly synthetic.</dc:description>
  <cp:lastModifiedBy>Steve Canny</cp:lastModifiedBy>
  <cp:revision>1</cp:revision>
  <dcterms:created xsi:type="dcterms:W3CDTF">2013-01-27T09:14:16Z</dcterms:created>
  <dcterms:modified xsi:type="dcterms:W3CDTF">2013-01-27T09:15:58Z</dcterms:modified>
  <cp:category/>
</cp:coreProperties>
</file>